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32F3E"/>
                </a:solidFill>
              </a:defRPr>
            </a:pPr>
            <a:r>
              <a:t>Multi-Tenant EKS Cluster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5A5A6"/>
                </a:solidFill>
              </a:defRPr>
            </a:pPr>
            <a:r>
              <a:t>Current State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5A5A6"/>
                </a:solidFill>
              </a:defRPr>
            </a:pPr>
            <a:r>
              <a:t>June 2026 • AWS Access Account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232F3E"/>
                </a:solidFill>
              </a:defRPr>
            </a:pPr>
            <a:r>
              <a:t>What We've Built:</a:t>
            </a:r>
          </a:p>
          <a:p>
            <a:pPr lvl="1">
              <a:defRPr sz="1600">
                <a:solidFill>
                  <a:srgbClr val="27AE60"/>
                </a:solidFill>
              </a:defRPr>
            </a:pPr>
            <a:r>
              <a:t>✅ Production-ready multi-tenant EKS cluster</a:t>
            </a:r>
          </a:p>
          <a:p>
            <a:pPr lvl="1">
              <a:defRPr sz="1600">
                <a:solidFill>
                  <a:srgbClr val="27AE60"/>
                </a:solidFill>
              </a:defRPr>
            </a:pPr>
            <a:r>
              <a:t>✅ Namespace isolation with RBAC</a:t>
            </a:r>
          </a:p>
          <a:p>
            <a:pPr lvl="1">
              <a:defRPr sz="1600">
                <a:solidFill>
                  <a:srgbClr val="27AE60"/>
                </a:solidFill>
              </a:defRPr>
            </a:pPr>
            <a:r>
              <a:t>✅ Separate node pools (system vs. tenant workloads)</a:t>
            </a:r>
          </a:p>
          <a:p>
            <a:pPr lvl="1">
              <a:defRPr sz="1600">
                <a:solidFill>
                  <a:srgbClr val="27AE60"/>
                </a:solidFill>
              </a:defRPr>
            </a:pPr>
            <a:r>
              <a:t>✅ Persistent storage with EBS volumes (tested &amp; verified)</a:t>
            </a:r>
          </a:p>
          <a:p>
            <a:pPr lvl="1">
              <a:defRPr sz="1600">
                <a:solidFill>
                  <a:srgbClr val="27AE60"/>
                </a:solidFill>
              </a:defRPr>
            </a:pPr>
            <a:r>
              <a:t>✅ Automated node updates (Bottlerocket + BRUPOP)</a:t>
            </a:r>
          </a:p>
          <a:p>
            <a:pPr lvl="1">
              <a:defRPr sz="1600">
                <a:solidFill>
                  <a:srgbClr val="27AE60"/>
                </a:solidFill>
              </a:defRPr>
            </a:pPr>
            <a:r>
              <a:t>✅ Pod Identity for secure AWS service access</a:t>
            </a:r>
          </a:p>
          <a:p>
            <a:br/>
            <a:pPr>
              <a:defRPr sz="2200" b="1">
                <a:solidFill>
                  <a:srgbClr val="232F3E"/>
                </a:solidFill>
              </a:defRPr>
            </a:pPr>
            <a:r>
              <a:t>Value Delivered:</a:t>
            </a:r>
          </a:p>
          <a:p>
            <a:pPr lvl="1">
              <a:defRPr sz="1600"/>
            </a:pPr>
            <a:r>
              <a:t>Cost efficiency through resource sharing</a:t>
            </a:r>
          </a:p>
          <a:p>
            <a:pPr lvl="1">
              <a:defRPr sz="1600"/>
            </a:pPr>
            <a:r>
              <a:t>Strong tenant isolation (namespace + compute + identity)</a:t>
            </a:r>
          </a:p>
          <a:p>
            <a:pPr lvl="1">
              <a:defRPr sz="1600"/>
            </a:pPr>
            <a:r>
              <a:t>Self-service capabilities for teams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>
                <a:solidFill>
                  <a:srgbClr val="232F3E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┌─────────────────────────────────────────┐</a:t>
            </a:r>
            <a:br/>
            <a:r>
              <a:t>│         EKS Control Plane               │</a:t>
            </a:r>
            <a:br/>
            <a:r>
              <a:t>│         (Managed by AWS)                │</a:t>
            </a:r>
            <a:br/>
            <a:r>
              <a:t>└──────────────┬──────────────────────────┘</a:t>
            </a:r>
            <a:br/>
            <a:r>
              <a:t>               │</a:t>
            </a:r>
            <a:br/>
            <a:r>
              <a:t>    ┌──────────┴──────────┐</a:t>
            </a:r>
            <a:br/>
            <a:r>
              <a:t>    │                     │</a:t>
            </a:r>
            <a:br/>
            <a:r>
              <a:t>┌───▼────────┐    ┌──────▼──────────┐</a:t>
            </a:r>
            <a:br/>
            <a:r>
              <a:t>│System Nodes│    │ Tenant Nodes    │</a:t>
            </a:r>
            <a:br/>
            <a:r>
              <a:t>│ (no taints)│    │  (tainted)      │</a:t>
            </a:r>
            <a:br/>
            <a:r>
              <a:t>│            │    │                 │</a:t>
            </a:r>
            <a:br/>
            <a:r>
              <a:t>│ • BRUPOP   │    │ • customer1     │</a:t>
            </a:r>
            <a:br/>
            <a:r>
              <a:t>│ • CoreDNS  │    │ • customer2     │</a:t>
            </a:r>
            <a:br/>
            <a:r>
              <a:t>│ • EBS CSI  │    │ • customer3     │</a:t>
            </a:r>
            <a:br/>
            <a:r>
              <a:t>│ • Add-ons  │    │                 │</a:t>
            </a:r>
            <a:br/>
            <a:r>
              <a:t>└────────────┘    └─────────────────┘</a:t>
            </a:r>
          </a:p>
          <a:p>
            <a:br/>
            <a:pPr>
              <a:defRPr sz="1800" b="1"/>
            </a:pPr>
            <a:r>
              <a:t>Key Components:</a:t>
            </a:r>
          </a:p>
          <a:p>
            <a:pPr lvl="1">
              <a:defRPr sz="1400"/>
            </a:pPr>
            <a:r>
              <a:t>System Nodes: Platform services (BRUPOP, controllers, add-ons)</a:t>
            </a:r>
          </a:p>
          <a:p>
            <a:pPr lvl="1">
              <a:defRPr sz="1400"/>
            </a:pPr>
            <a:r>
              <a:t>Tenant Nodes: Workload-specific, tainted to prevent co-location</a:t>
            </a:r>
          </a:p>
          <a:p>
            <a:pPr lvl="1">
              <a:defRPr sz="1400"/>
            </a:pPr>
            <a:r>
              <a:t>Bottlerocket OS: Minimal, immutable, auto-updating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Multi-Tenancy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Isolation Layers:</a:t>
            </a:r>
          </a:p>
          <a:p>
            <a:pPr lvl="1">
              <a:defRPr sz="1400"/>
            </a:pPr>
            <a:r>
              <a:t>Namespace: tenant-customer1/2/3</a:t>
            </a:r>
          </a:p>
          <a:p>
            <a:pPr lvl="2">
              <a:defRPr sz="1200" i="1">
                <a:solidFill>
                  <a:srgbClr val="95A5A6"/>
                </a:solidFill>
              </a:defRPr>
            </a:pPr>
            <a:r>
              <a:t>→ Logical boundary</a:t>
            </a:r>
          </a:p>
          <a:p>
            <a:pPr lvl="1">
              <a:defRPr sz="1400"/>
            </a:pPr>
            <a:r>
              <a:t>Compute: Node taints + tolerations</a:t>
            </a:r>
          </a:p>
          <a:p>
            <a:pPr lvl="2">
              <a:defRPr sz="1200" i="1">
                <a:solidFill>
                  <a:srgbClr val="95A5A6"/>
                </a:solidFill>
              </a:defRPr>
            </a:pPr>
            <a:r>
              <a:t>→ Physical isolation</a:t>
            </a:r>
          </a:p>
          <a:p>
            <a:pPr lvl="1">
              <a:defRPr sz="1400"/>
            </a:pPr>
            <a:r>
              <a:t>Network: NetworkPolicies (future)</a:t>
            </a:r>
          </a:p>
          <a:p>
            <a:pPr lvl="2">
              <a:defRPr sz="1200" i="1">
                <a:solidFill>
                  <a:srgbClr val="95A5A6"/>
                </a:solidFill>
              </a:defRPr>
            </a:pPr>
            <a:r>
              <a:t>→ Traffic segmentation</a:t>
            </a:r>
          </a:p>
          <a:p>
            <a:pPr lvl="1">
              <a:defRPr sz="1400"/>
            </a:pPr>
            <a:r>
              <a:t>Identity: Access Entries + RBAC</a:t>
            </a:r>
          </a:p>
          <a:p>
            <a:pPr lvl="2">
              <a:defRPr sz="1200" i="1">
                <a:solidFill>
                  <a:srgbClr val="95A5A6"/>
                </a:solidFill>
              </a:defRPr>
            </a:pPr>
            <a:r>
              <a:t>→ Permission boundaries</a:t>
            </a:r>
          </a:p>
          <a:p>
            <a:pPr lvl="1">
              <a:defRPr sz="1400"/>
            </a:pPr>
            <a:r>
              <a:t>Storage: PVC per namespace</a:t>
            </a:r>
          </a:p>
          <a:p>
            <a:pPr lvl="2">
              <a:defRPr sz="1200" i="1">
                <a:solidFill>
                  <a:srgbClr val="95A5A6"/>
                </a:solidFill>
              </a:defRPr>
            </a:pPr>
            <a:r>
              <a:t>→ Data isolation</a:t>
            </a:r>
          </a:p>
          <a:p>
            <a:br/>
            <a:pPr>
              <a:defRPr sz="1800" b="1"/>
            </a:pPr>
            <a:r>
              <a:t>Node Group Strategy:</a:t>
            </a:r>
          </a:p>
          <a:p>
            <a:pPr lvl="1">
              <a:defRPr sz="1300"/>
            </a:pPr>
            <a:r>
              <a:t>System nodes: No taints → accept platform workloads</a:t>
            </a:r>
          </a:p>
          <a:p>
            <a:pPr lvl="1">
              <a:defRPr sz="1300"/>
            </a:pPr>
            <a:r>
              <a:t>Tenant nodes: customer-id=customerX:NoSchedule → dedicated compute</a:t>
            </a:r>
          </a:p>
          <a:p>
            <a:pPr lvl="1">
              <a:defRPr sz="1300"/>
            </a:pPr>
            <a:r>
              <a:t>Prevents 'noisy neighbor' issues</a:t>
            </a:r>
          </a:p>
          <a:p>
            <a:pPr lvl="1">
              <a:defRPr sz="1300"/>
            </a:pPr>
            <a:r>
              <a:t>Enables per-tenant node sizing/scaling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Control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IAM to Kubernetes Integration:</a:t>
            </a:r>
          </a:p>
          <a:p>
            <a:pPr lvl="1">
              <a:defRPr sz="1300">
                <a:latin typeface="Courier New"/>
              </a:defRPr>
            </a:pPr>
            <a:r>
              <a:t>User/Team Role (AWS Access Account)</a:t>
            </a:r>
            <a:br/>
            <a:r>
              <a:t>    ↓ AssumeRole</a:t>
            </a:r>
            <a:br/>
            <a:r>
              <a:t>WorkloadConfig Role (Project Account)</a:t>
            </a:r>
            <a:br/>
            <a:r>
              <a:t>    ↓ EKS Access Entry</a:t>
            </a:r>
            <a:br/>
            <a:r>
              <a:t>Kubernetes Group (tenant:customer1)</a:t>
            </a:r>
            <a:br/>
            <a:r>
              <a:t>    ↓ RoleBinding</a:t>
            </a:r>
            <a:br/>
            <a:r>
              <a:t>ClusterRole (tenant-editor)</a:t>
            </a:r>
            <a:br/>
            <a:r>
              <a:t>    ↓ Permissions</a:t>
            </a:r>
            <a:br/>
            <a:r>
              <a:t>Namespace (tenant-customer1)</a:t>
            </a:r>
          </a:p>
          <a:p>
            <a:br/>
            <a:pPr>
              <a:defRPr sz="1800" b="1"/>
            </a:pPr>
            <a:r>
              <a:t>Security Features: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Pod Identity with Permissions Boundary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RBAC with least-privilege roles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Encrypted EBS volumes (GP3)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No shell access (pods/exec removed)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Read-only logs/events (audit trail)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ServiceAccount creation restricted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Add-ons &amp; Platform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232F3E"/>
                </a:solidFill>
              </a:defRPr>
            </a:pPr>
            <a:r>
              <a:t>Amazon EBS CSI Driver</a:t>
            </a:r>
          </a:p>
          <a:p>
            <a:pPr lvl="1">
              <a:defRPr sz="1200"/>
            </a:pPr>
            <a:r>
              <a:t>Purpose: Persistent volumes for StatefulSets</a:t>
            </a:r>
          </a:p>
          <a:p>
            <a:pPr lvl="1">
              <a:defRPr sz="1200">
                <a:solidFill>
                  <a:srgbClr val="27AE60"/>
                </a:solidFill>
              </a:defRPr>
            </a:pPr>
            <a:r>
              <a:t>Status: ✅ Tested</a:t>
            </a:r>
          </a:p>
          <a:p>
            <a:pPr>
              <a:defRPr sz="1600" b="1">
                <a:solidFill>
                  <a:srgbClr val="232F3E"/>
                </a:solidFill>
              </a:defRPr>
            </a:pPr>
            <a:r>
              <a:t>Amazon VPC CNI</a:t>
            </a:r>
          </a:p>
          <a:p>
            <a:pPr lvl="1">
              <a:defRPr sz="1200"/>
            </a:pPr>
            <a:r>
              <a:t>Purpose: Pod networking</a:t>
            </a:r>
          </a:p>
          <a:p>
            <a:pPr lvl="1">
              <a:defRPr sz="1200">
                <a:solidFill>
                  <a:srgbClr val="27AE60"/>
                </a:solidFill>
              </a:defRPr>
            </a:pPr>
            <a:r>
              <a:t>Status: ✅ Active</a:t>
            </a:r>
          </a:p>
          <a:p>
            <a:pPr>
              <a:defRPr sz="1600" b="1">
                <a:solidFill>
                  <a:srgbClr val="232F3E"/>
                </a:solidFill>
              </a:defRPr>
            </a:pPr>
            <a:r>
              <a:t>BRUPOP</a:t>
            </a:r>
          </a:p>
          <a:p>
            <a:pPr lvl="1">
              <a:defRPr sz="1200"/>
            </a:pPr>
            <a:r>
              <a:t>Purpose: Automated Bottlerocket updates</a:t>
            </a:r>
          </a:p>
          <a:p>
            <a:pPr lvl="1">
              <a:defRPr sz="1200">
                <a:solidFill>
                  <a:srgbClr val="27AE60"/>
                </a:solidFill>
              </a:defRPr>
            </a:pPr>
            <a:r>
              <a:t>Status: ✅ Deployed</a:t>
            </a:r>
          </a:p>
          <a:p>
            <a:pPr>
              <a:defRPr sz="1600" b="1">
                <a:solidFill>
                  <a:srgbClr val="232F3E"/>
                </a:solidFill>
              </a:defRPr>
            </a:pPr>
            <a:r>
              <a:t>cert-manager</a:t>
            </a:r>
          </a:p>
          <a:p>
            <a:pPr lvl="1">
              <a:defRPr sz="1200"/>
            </a:pPr>
            <a:r>
              <a:t>Purpose: TLS certificate management</a:t>
            </a:r>
          </a:p>
          <a:p>
            <a:pPr lvl="1">
              <a:defRPr sz="1200">
                <a:solidFill>
                  <a:srgbClr val="27AE60"/>
                </a:solidFill>
              </a:defRPr>
            </a:pPr>
            <a:r>
              <a:t>Status: ✅ Running</a:t>
            </a:r>
          </a:p>
          <a:p>
            <a:pPr>
              <a:defRPr sz="1600" b="1">
                <a:solidFill>
                  <a:srgbClr val="232F3E"/>
                </a:solidFill>
              </a:defRPr>
            </a:pPr>
            <a:r>
              <a:t>Pod Identity Agent</a:t>
            </a:r>
          </a:p>
          <a:p>
            <a:pPr lvl="1">
              <a:defRPr sz="1200"/>
            </a:pPr>
            <a:r>
              <a:t>Purpose: IAM roles for pods</a:t>
            </a:r>
          </a:p>
          <a:p>
            <a:pPr lvl="1">
              <a:defRPr sz="1200">
                <a:solidFill>
                  <a:srgbClr val="27AE60"/>
                </a:solidFill>
              </a:defRPr>
            </a:pPr>
            <a:r>
              <a:t>Status: ✅ Configured</a:t>
            </a:r>
          </a:p>
          <a:p>
            <a:br/>
            <a:pPr>
              <a:defRPr sz="1800" b="1"/>
            </a:pPr>
            <a:r>
              <a:t>What This Enables:</a:t>
            </a:r>
          </a:p>
          <a:p>
            <a:pPr lvl="1">
              <a:defRPr sz="1400"/>
            </a:pPr>
            <a:r>
              <a:t>Databases with persistent storage</a:t>
            </a:r>
          </a:p>
          <a:p>
            <a:pPr lvl="1">
              <a:defRPr sz="1400"/>
            </a:pPr>
            <a:r>
              <a:t>Auto-healing infrastructure</a:t>
            </a:r>
          </a:p>
          <a:p>
            <a:pPr lvl="1">
              <a:defRPr sz="1400"/>
            </a:pPr>
            <a:r>
              <a:t>Secure AWS service access (S3, RDS, Secrets Manager)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- Flask App with Persistent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What I'll Show:</a:t>
            </a:r>
          </a:p>
          <a:p>
            <a:pPr>
              <a:defRPr sz="1600" b="1">
                <a:solidFill>
                  <a:srgbClr val="3498DB"/>
                </a:solidFill>
              </a:defRPr>
            </a:pPr>
            <a:r>
              <a:t>1. Application Deployment</a:t>
            </a:r>
          </a:p>
          <a:p>
            <a:pPr lvl="1">
              <a:defRPr sz="1400"/>
            </a:pPr>
            <a:r>
              <a:t>StatefulSet with 2 replicas</a:t>
            </a:r>
          </a:p>
          <a:p>
            <a:pPr lvl="1">
              <a:defRPr sz="1400"/>
            </a:pPr>
            <a:r>
              <a:t>Each pod gets dedicated 5GB EBS volume</a:t>
            </a:r>
          </a:p>
          <a:p>
            <a:pPr>
              <a:defRPr sz="1600" b="1">
                <a:solidFill>
                  <a:srgbClr val="3498DB"/>
                </a:solidFill>
              </a:defRPr>
            </a:pPr>
            <a:r>
              <a:t>2. Persistence Test</a:t>
            </a:r>
          </a:p>
          <a:p>
            <a:pPr lvl="1">
              <a:defRPr sz="1400"/>
            </a:pPr>
            <a:r>
              <a:t>Add data via REST API</a:t>
            </a:r>
          </a:p>
          <a:p>
            <a:pPr lvl="1">
              <a:defRPr sz="1400"/>
            </a:pPr>
            <a:r>
              <a:t>Delete pod (simulate failure)</a:t>
            </a:r>
          </a:p>
          <a:p>
            <a:pPr lvl="1">
              <a:defRPr sz="1400"/>
            </a:pPr>
            <a:r>
              <a:t>Pod recreates, data intact ✅</a:t>
            </a:r>
          </a:p>
          <a:p>
            <a:pPr>
              <a:defRPr sz="1600" b="1">
                <a:solidFill>
                  <a:srgbClr val="3498DB"/>
                </a:solidFill>
              </a:defRPr>
            </a:pPr>
            <a:r>
              <a:t>3. Tenant Isolation</a:t>
            </a:r>
          </a:p>
          <a:p>
            <a:pPr lvl="1">
              <a:defRPr sz="1400"/>
            </a:pPr>
            <a:r>
              <a:t>Pods scheduled only on customer1 nodes</a:t>
            </a:r>
          </a:p>
          <a:p>
            <a:pPr lvl="1">
              <a:defRPr sz="1400"/>
            </a:pPr>
            <a:r>
              <a:t>PVCs scoped to namespace</a:t>
            </a:r>
          </a:p>
          <a:p>
            <a:pPr lvl="1">
              <a:defRPr sz="1400"/>
            </a:pPr>
            <a:r>
              <a:t>RBAC prevents cross-namespace access</a:t>
            </a:r>
          </a:p>
          <a:p>
            <a:br/>
            <a:pPr>
              <a:defRPr sz="1600" b="1">
                <a:solidFill>
                  <a:srgbClr val="27AE60"/>
                </a:solidFill>
              </a:defRPr>
            </a:pPr>
            <a:r>
              <a:t>🎯 Key Takeaway: Workloads survive failures with zero data loss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Working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232F3E"/>
                </a:solidFill>
              </a:defRPr>
            </a:pPr>
            <a:r>
              <a:t>Compute &amp; Scheduling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Multi-tenant node isolation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StatefulSet deployments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Pod scheduling with affinity/tolerations</a:t>
            </a:r>
          </a:p>
          <a:p>
            <a:pPr>
              <a:defRPr sz="1800" b="1">
                <a:solidFill>
                  <a:srgbClr val="232F3E"/>
                </a:solidFill>
              </a:defRPr>
            </a:pPr>
            <a:r>
              <a:t>Storage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Dynamic EBS volume provisioning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Volume persistence across pod restarts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Encrypted volumes (GP3, 3000 IOPS baseline)</a:t>
            </a:r>
          </a:p>
          <a:p>
            <a:pPr>
              <a:defRPr sz="1800" b="1">
                <a:solidFill>
                  <a:srgbClr val="232F3E"/>
                </a:solidFill>
              </a:defRPr>
            </a:pPr>
            <a:r>
              <a:t>Identity &amp; Access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IAM-to-Kubernetes mapping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Namespace-scoped permissions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Pod Identity for AWS service access</a:t>
            </a:r>
          </a:p>
          <a:p>
            <a:pPr>
              <a:defRPr sz="1800" b="1">
                <a:solidFill>
                  <a:srgbClr val="232F3E"/>
                </a:solidFill>
              </a:defRPr>
            </a:pPr>
            <a:r>
              <a:t>Operations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Automated OS updates (BRUPOP)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GitOps-ready (manifests in repo)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Validation Completed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27AE60"/>
                </a:solidFill>
              </a:defRPr>
            </a:pPr>
            <a:r>
              <a:t>✅ Infrastructure Tests</a:t>
            </a:r>
          </a:p>
          <a:p>
            <a:pPr lvl="1">
              <a:defRPr sz="1300"/>
            </a:pPr>
            <a:r>
              <a:t>Cluster deployment via CloudFormation</a:t>
            </a:r>
          </a:p>
          <a:p>
            <a:pPr lvl="1">
              <a:defRPr sz="1300"/>
            </a:pPr>
            <a:r>
              <a:t>Node group auto-scaling</a:t>
            </a:r>
          </a:p>
          <a:p>
            <a:pPr lvl="1">
              <a:defRPr sz="1300"/>
            </a:pPr>
            <a:r>
              <a:t>EBS CSI driver IAM permissions</a:t>
            </a:r>
          </a:p>
          <a:p>
            <a:pPr>
              <a:defRPr sz="1600" b="1">
                <a:solidFill>
                  <a:srgbClr val="27AE60"/>
                </a:solidFill>
              </a:defRPr>
            </a:pPr>
            <a:r>
              <a:t>✅ Application Tests</a:t>
            </a:r>
          </a:p>
          <a:p>
            <a:pPr lvl="1">
              <a:defRPr sz="1300"/>
            </a:pPr>
            <a:r>
              <a:t>Container deployment (Flask app)</a:t>
            </a:r>
          </a:p>
          <a:p>
            <a:pPr lvl="1">
              <a:defRPr sz="1300"/>
            </a:pPr>
            <a:r>
              <a:t>Persistent volume lifecycle</a:t>
            </a:r>
          </a:p>
          <a:p>
            <a:pPr lvl="1">
              <a:defRPr sz="1300"/>
            </a:pPr>
            <a:r>
              <a:t>Pod restart/failure scenarios</a:t>
            </a:r>
          </a:p>
          <a:p>
            <a:pPr lvl="1">
              <a:defRPr sz="1300"/>
            </a:pPr>
            <a:r>
              <a:t>Cross-AZ scheduling</a:t>
            </a:r>
          </a:p>
          <a:p>
            <a:pPr>
              <a:defRPr sz="1600" b="1">
                <a:solidFill>
                  <a:srgbClr val="27AE60"/>
                </a:solidFill>
              </a:defRPr>
            </a:pPr>
            <a:r>
              <a:t>✅ Security Tests</a:t>
            </a:r>
          </a:p>
          <a:p>
            <a:pPr lvl="1">
              <a:defRPr sz="1300"/>
            </a:pPr>
            <a:r>
              <a:t>RBAC permission boundaries</a:t>
            </a:r>
          </a:p>
          <a:p>
            <a:pPr lvl="1">
              <a:defRPr sz="1300"/>
            </a:pPr>
            <a:r>
              <a:t>Namespace isolation</a:t>
            </a:r>
          </a:p>
          <a:p>
            <a:pPr lvl="1">
              <a:defRPr sz="1300"/>
            </a:pPr>
            <a:r>
              <a:t>Pod Identity integration</a:t>
            </a:r>
          </a:p>
          <a:p>
            <a:pPr>
              <a:defRPr sz="1600" b="1">
                <a:solidFill>
                  <a:srgbClr val="FF9900"/>
                </a:solidFill>
              </a:defRPr>
            </a:pPr>
            <a:r>
              <a:t>⏳ Pending Tests</a:t>
            </a:r>
          </a:p>
          <a:p>
            <a:pPr lvl="1">
              <a:defRPr sz="1300"/>
            </a:pPr>
            <a:r>
              <a:t>Secrets Manager integration</a:t>
            </a:r>
          </a:p>
          <a:p>
            <a:pPr lvl="1">
              <a:defRPr sz="1300"/>
            </a:pPr>
            <a:r>
              <a:t>Network policies</a:t>
            </a:r>
          </a:p>
          <a:p>
            <a:pPr lvl="1">
              <a:defRPr sz="1300"/>
            </a:pPr>
            <a:r>
              <a:t>Resource quotas enforcement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Gaps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E74C3C"/>
                </a:solidFill>
              </a:defRPr>
            </a:pPr>
            <a:r>
              <a:t>Observability</a:t>
            </a:r>
          </a:p>
          <a:p>
            <a:pPr lvl="1">
              <a:defRPr sz="1300">
                <a:solidFill>
                  <a:srgbClr val="E74C3C"/>
                </a:solidFill>
              </a:defRPr>
            </a:pPr>
            <a:r>
              <a:t>❌ No centralized logging</a:t>
            </a:r>
          </a:p>
          <a:p>
            <a:pPr lvl="1">
              <a:defRPr sz="1300">
                <a:solidFill>
                  <a:srgbClr val="E74C3C"/>
                </a:solidFill>
              </a:defRPr>
            </a:pPr>
            <a:r>
              <a:t>❌ No metrics/monitoring dashboard</a:t>
            </a:r>
          </a:p>
          <a:p>
            <a:pPr lvl="1">
              <a:defRPr sz="1300">
                <a:solidFill>
                  <a:srgbClr val="E74C3C"/>
                </a:solidFill>
              </a:defRPr>
            </a:pPr>
            <a:r>
              <a:t>❌ No alerting</a:t>
            </a:r>
          </a:p>
          <a:p>
            <a:pPr>
              <a:defRPr sz="1600" b="1">
                <a:solidFill>
                  <a:srgbClr val="E74C3C"/>
                </a:solidFill>
              </a:defRPr>
            </a:pPr>
            <a:r>
              <a:t>Environment Management</a:t>
            </a:r>
          </a:p>
          <a:p>
            <a:pPr lvl="1">
              <a:defRPr sz="1300">
                <a:solidFill>
                  <a:srgbClr val="E74C3C"/>
                </a:solidFill>
              </a:defRPr>
            </a:pPr>
            <a:r>
              <a:t>❌ Single cluster (no non-prod/prod split)</a:t>
            </a:r>
          </a:p>
          <a:p>
            <a:pPr lvl="1">
              <a:defRPr sz="1300">
                <a:solidFill>
                  <a:srgbClr val="E74C3C"/>
                </a:solidFill>
              </a:defRPr>
            </a:pPr>
            <a:r>
              <a:t>❌ No CI/CD integration demonstrated</a:t>
            </a:r>
          </a:p>
          <a:p>
            <a:pPr>
              <a:defRPr sz="1600" b="1">
                <a:solidFill>
                  <a:srgbClr val="E74C3C"/>
                </a:solidFill>
              </a:defRPr>
            </a:pPr>
            <a:r>
              <a:t>IAM Permissions</a:t>
            </a:r>
          </a:p>
          <a:p>
            <a:pPr lvl="1">
              <a:defRPr sz="1300">
                <a:solidFill>
                  <a:srgbClr val="E74C3C"/>
                </a:solidFill>
              </a:defRPr>
            </a:pPr>
            <a:r>
              <a:t>⚠️  EKS Management role limited to eks:*</a:t>
            </a:r>
          </a:p>
          <a:p>
            <a:pPr lvl="1">
              <a:defRPr sz="1300"/>
            </a:pPr>
            <a:r>
              <a:t>Needs: ec2, iam, cloudformation, s3</a:t>
            </a:r>
          </a:p>
          <a:p>
            <a:pPr>
              <a:defRPr sz="1600" b="1">
                <a:solidFill>
                  <a:srgbClr val="E74C3C"/>
                </a:solidFill>
              </a:defRPr>
            </a:pPr>
            <a:r>
              <a:t>Testing Gaps</a:t>
            </a:r>
          </a:p>
          <a:p>
            <a:pPr lvl="1">
              <a:defRPr sz="1300">
                <a:solidFill>
                  <a:srgbClr val="E74C3C"/>
                </a:solidFill>
              </a:defRPr>
            </a:pPr>
            <a:r>
              <a:t>❌ Secrets Manager not tested</a:t>
            </a:r>
          </a:p>
          <a:p>
            <a:pPr lvl="1">
              <a:defRPr sz="1300">
                <a:solidFill>
                  <a:srgbClr val="E74C3C"/>
                </a:solidFill>
              </a:defRPr>
            </a:pPr>
            <a:r>
              <a:t>❌ Network policies not implemented</a:t>
            </a:r>
          </a:p>
          <a:p>
            <a:pPr lvl="1">
              <a:defRPr sz="1300">
                <a:solidFill>
                  <a:srgbClr val="E74C3C"/>
                </a:solidFill>
              </a:defRPr>
            </a:pPr>
            <a:r>
              <a:t>❌ Service mesh not evaluated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 - Phase 1 (Next 2-4 weeks)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t>1. Observability Stack</a:t>
            </a:r>
          </a:p>
          <a:p>
            <a:pPr lvl="1">
              <a:defRPr sz="1200"/>
            </a:pPr>
            <a:r>
              <a:t>FluentBit/Fluentd → CloudWatch Logs</a:t>
            </a:r>
          </a:p>
          <a:p>
            <a:pPr lvl="1">
              <a:defRPr sz="1200"/>
            </a:pPr>
            <a:r>
              <a:t>Prometheus + Grafana → Metrics</a:t>
            </a:r>
          </a:p>
          <a:p>
            <a:pPr lvl="1">
              <a:defRPr sz="1200"/>
            </a:pPr>
            <a:r>
              <a:t>CloudWatch Container Insights</a:t>
            </a:r>
          </a:p>
          <a:p>
            <a:pPr>
              <a:defRPr sz="1400" b="1">
                <a:solidFill>
                  <a:srgbClr val="3498DB"/>
                </a:solidFill>
              </a:defRPr>
            </a:pPr>
            <a:r>
              <a:t>2. Secrets Management</a:t>
            </a:r>
          </a:p>
          <a:p>
            <a:pPr lvl="1">
              <a:defRPr sz="1200"/>
            </a:pPr>
            <a:r>
              <a:t>AWS Secrets Manager CSI Driver</a:t>
            </a:r>
          </a:p>
          <a:p>
            <a:pPr lvl="1">
              <a:defRPr sz="1200"/>
            </a:pPr>
            <a:r>
              <a:t>Mount secrets as volumes</a:t>
            </a:r>
          </a:p>
          <a:p>
            <a:pPr lvl="1">
              <a:defRPr sz="1200"/>
            </a:pPr>
            <a:r>
              <a:t>Auto-rotation support</a:t>
            </a:r>
          </a:p>
          <a:p>
            <a:pPr>
              <a:defRPr sz="1400" b="1">
                <a:solidFill>
                  <a:srgbClr val="3498DB"/>
                </a:solidFill>
              </a:defRPr>
            </a:pPr>
            <a:r>
              <a:t>3. Environment Strategy</a:t>
            </a:r>
          </a:p>
          <a:p>
            <a:pPr lvl="1">
              <a:defRPr sz="1200"/>
            </a:pPr>
            <a:r>
              <a:t>Decision: Separate clusters (non-prod, prod)</a:t>
            </a:r>
          </a:p>
          <a:p>
            <a:pPr lvl="1">
              <a:defRPr sz="1200"/>
            </a:pPr>
            <a:r>
              <a:t>Rationale: Blast radius control</a:t>
            </a:r>
          </a:p>
          <a:p>
            <a:pPr lvl="1">
              <a:defRPr sz="1200"/>
            </a:pPr>
            <a:r>
              <a:t>Same templates, different configs</a:t>
            </a:r>
          </a:p>
          <a:p>
            <a:pPr>
              <a:defRPr sz="1400" b="1">
                <a:solidFill>
                  <a:srgbClr val="3498DB"/>
                </a:solidFill>
              </a:defRPr>
            </a:pPr>
            <a:r>
              <a:t>4. IAM Permission Expansion</a:t>
            </a:r>
          </a:p>
          <a:p>
            <a:pPr lvl="1">
              <a:defRPr sz="1200"/>
            </a:pPr>
            <a:r>
              <a:t>eks:* (current) ✅</a:t>
            </a:r>
          </a:p>
          <a:p>
            <a:pPr lvl="1">
              <a:defRPr sz="1200"/>
            </a:pPr>
            <a:r>
              <a:t>ec2:*, iam:*, cloudformation:* 🔒</a:t>
            </a:r>
          </a:p>
          <a:p>
            <a:pPr lvl="1">
              <a:defRPr sz="1200" b="1">
                <a:solidFill>
                  <a:srgbClr val="E74C3C"/>
                </a:solidFill>
              </a:defRPr>
            </a:pPr>
            <a:r>
              <a:t>BLOCKER: Needed for operations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 - Phase 2 (1-3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t>Network Isolation</a:t>
            </a:r>
          </a:p>
          <a:p>
            <a:pPr lvl="1">
              <a:defRPr sz="1200"/>
            </a:pPr>
            <a:r>
              <a:t>Calico or Cilium for NetworkPolicies</a:t>
            </a:r>
          </a:p>
          <a:p>
            <a:pPr lvl="1">
              <a:defRPr sz="1200"/>
            </a:pPr>
            <a:r>
              <a:t>Deny-by-default traffic rules</a:t>
            </a:r>
          </a:p>
          <a:p>
            <a:pPr>
              <a:defRPr sz="1400" b="1">
                <a:solidFill>
                  <a:srgbClr val="3498DB"/>
                </a:solidFill>
              </a:defRPr>
            </a:pPr>
            <a:r>
              <a:t>Resource Management</a:t>
            </a:r>
          </a:p>
          <a:p>
            <a:pPr lvl="1">
              <a:defRPr sz="1200"/>
            </a:pPr>
            <a:r>
              <a:t>ResourceQuotas per namespace</a:t>
            </a:r>
          </a:p>
          <a:p>
            <a:pPr lvl="1">
              <a:defRPr sz="1200"/>
            </a:pPr>
            <a:r>
              <a:t>LimitRanges to prevent hogging</a:t>
            </a:r>
          </a:p>
          <a:p>
            <a:pPr lvl="1">
              <a:defRPr sz="1200"/>
            </a:pPr>
            <a:r>
              <a:t>Pod Disruption Budgets for HA</a:t>
            </a:r>
          </a:p>
          <a:p>
            <a:pPr>
              <a:defRPr sz="1400" b="1">
                <a:solidFill>
                  <a:srgbClr val="3498DB"/>
                </a:solidFill>
              </a:defRPr>
            </a:pPr>
            <a:r>
              <a:t>Developer Experience</a:t>
            </a:r>
          </a:p>
          <a:p>
            <a:pPr lvl="1">
              <a:defRPr sz="1200"/>
            </a:pPr>
            <a:r>
              <a:t>ArgoCD for GitOps deployments</a:t>
            </a:r>
          </a:p>
          <a:p>
            <a:pPr lvl="1">
              <a:defRPr sz="1200"/>
            </a:pPr>
            <a:r>
              <a:t>Kubernetes Dashboard (read-only)</a:t>
            </a:r>
          </a:p>
          <a:p>
            <a:pPr lvl="1">
              <a:defRPr sz="1200"/>
            </a:pPr>
            <a:r>
              <a:t>Self-service onboarding</a:t>
            </a:r>
          </a:p>
          <a:p>
            <a:pPr>
              <a:defRPr sz="1400" b="1">
                <a:solidFill>
                  <a:srgbClr val="3498DB"/>
                </a:solidFill>
              </a:defRPr>
            </a:pPr>
            <a:r>
              <a:t>Compliance &amp; Auditing</a:t>
            </a:r>
          </a:p>
          <a:p>
            <a:pPr lvl="1">
              <a:defRPr sz="1200"/>
            </a:pPr>
            <a:r>
              <a:t>CloudTrail integration</a:t>
            </a:r>
          </a:p>
          <a:p>
            <a:pPr lvl="1">
              <a:defRPr sz="1200"/>
            </a:pPr>
            <a:r>
              <a:t>Kubernetes audit logs → SIEM</a:t>
            </a:r>
          </a:p>
          <a:p>
            <a:pPr lvl="1">
              <a:defRPr sz="1200"/>
            </a:pPr>
            <a:r>
              <a:t>Policy enforcement (Kyverno/OPA)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 - Phase 3 (3-6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t>Service Mesh</a:t>
            </a:r>
          </a:p>
          <a:p>
            <a:pPr lvl="1">
              <a:defRPr sz="1200"/>
            </a:pPr>
            <a:r>
              <a:t>Istio or Linkerd</a:t>
            </a:r>
          </a:p>
          <a:p>
            <a:pPr lvl="1">
              <a:defRPr sz="1200"/>
            </a:pPr>
            <a:r>
              <a:t>mTLS between services</a:t>
            </a:r>
          </a:p>
          <a:p>
            <a:pPr lvl="1">
              <a:defRPr sz="1200"/>
            </a:pPr>
            <a:r>
              <a:t>Advanced traffic management</a:t>
            </a:r>
          </a:p>
          <a:p>
            <a:pPr>
              <a:defRPr sz="1400" b="1">
                <a:solidFill>
                  <a:srgbClr val="3498DB"/>
                </a:solidFill>
              </a:defRPr>
            </a:pPr>
            <a:r>
              <a:t>Cluster Autoscaler</a:t>
            </a:r>
          </a:p>
          <a:p>
            <a:pPr lvl="1">
              <a:defRPr sz="1200"/>
            </a:pPr>
            <a:r>
              <a:t>Scale nodes based on pending pods</a:t>
            </a:r>
          </a:p>
          <a:p>
            <a:pPr lvl="1">
              <a:defRPr sz="1200"/>
            </a:pPr>
            <a:r>
              <a:t>Karpenter for better bin-packing</a:t>
            </a:r>
          </a:p>
          <a:p>
            <a:pPr>
              <a:defRPr sz="1400" b="1">
                <a:solidFill>
                  <a:srgbClr val="3498DB"/>
                </a:solidFill>
              </a:defRPr>
            </a:pPr>
            <a:r>
              <a:t>Backup &amp; DR</a:t>
            </a:r>
          </a:p>
          <a:p>
            <a:pPr lvl="1">
              <a:defRPr sz="1200"/>
            </a:pPr>
            <a:r>
              <a:t>Velero for cluster backups</a:t>
            </a:r>
          </a:p>
          <a:p>
            <a:pPr lvl="1">
              <a:defRPr sz="1200"/>
            </a:pPr>
            <a:r>
              <a:t>Cross-region replication strategy</a:t>
            </a:r>
          </a:p>
          <a:p>
            <a:pPr>
              <a:defRPr sz="1400" b="1">
                <a:solidFill>
                  <a:srgbClr val="3498DB"/>
                </a:solidFill>
              </a:defRPr>
            </a:pPr>
            <a:r>
              <a:t>Cost Optimization</a:t>
            </a:r>
          </a:p>
          <a:p>
            <a:pPr lvl="1">
              <a:defRPr sz="1200"/>
            </a:pPr>
            <a:r>
              <a:t>Spot instances for non-critical workloads</a:t>
            </a:r>
          </a:p>
          <a:p>
            <a:pPr lvl="1">
              <a:defRPr sz="1200"/>
            </a:pPr>
            <a:r>
              <a:t>Kubecost for cost visibility</a:t>
            </a:r>
          </a:p>
          <a:p>
            <a:pPr lvl="1">
              <a:defRPr sz="1200"/>
            </a:pPr>
            <a:r>
              <a:t>Right-sizing recommendations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Non-Prod vs Prod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27AE60"/>
                </a:solidFill>
              </a:defRPr>
            </a:pPr>
            <a:r>
              <a:t>Recommended: Separate Clusters</a:t>
            </a:r>
          </a:p>
          <a:p>
            <a:br/>
            <a:pPr>
              <a:defRPr sz="1300" b="1">
                <a:latin typeface="Courier New"/>
              </a:defRPr>
            </a:pPr>
            <a:r>
              <a:t>Aspect          Non-Prod               Prod</a:t>
            </a:r>
          </a:p>
          <a:p>
            <a:pPr lvl="1">
              <a:defRPr sz="1200">
                <a:latin typeface="Courier New"/>
              </a:defRPr>
            </a:pPr>
            <a:r>
              <a:t>Availability    Single AZ              Multi-AZ</a:t>
            </a:r>
          </a:p>
          <a:p>
            <a:pPr lvl="1">
              <a:defRPr sz="1200">
                <a:latin typeface="Courier New"/>
              </a:defRPr>
            </a:pPr>
            <a:r>
              <a:t>Nodes           Smaller instances      Production-grade</a:t>
            </a:r>
          </a:p>
          <a:p>
            <a:pPr lvl="1">
              <a:defRPr sz="1200">
                <a:latin typeface="Courier New"/>
              </a:defRPr>
            </a:pPr>
            <a:r>
              <a:t>Backups         Optional               Automated</a:t>
            </a:r>
          </a:p>
          <a:p>
            <a:pPr lvl="1">
              <a:defRPr sz="1200">
                <a:latin typeface="Courier New"/>
              </a:defRPr>
            </a:pPr>
            <a:r>
              <a:t>Updates         Test first             After validation</a:t>
            </a:r>
          </a:p>
          <a:p>
            <a:pPr lvl="1">
              <a:defRPr sz="1200">
                <a:latin typeface="Courier New"/>
              </a:defRPr>
            </a:pPr>
            <a:r>
              <a:t>Access          Broader (devs)         Restricted (ops)</a:t>
            </a:r>
          </a:p>
          <a:p>
            <a:pPr lvl="1">
              <a:defRPr sz="1200">
                <a:latin typeface="Courier New"/>
              </a:defRPr>
            </a:pPr>
            <a:r>
              <a:t>Logging         7-day retention        90+ days</a:t>
            </a:r>
          </a:p>
          <a:p>
            <a:pPr lvl="1">
              <a:defRPr sz="1200">
                <a:latin typeface="Courier New"/>
              </a:defRPr>
            </a:pPr>
            <a:r>
              <a:t>Cost            ~30% of prod           Full production</a:t>
            </a:r>
          </a:p>
          <a:p>
            <a:br/>
            <a:pPr>
              <a:defRPr sz="1600" b="1"/>
            </a:pPr>
            <a:r>
              <a:t>Why Separate Clusters:</a:t>
            </a:r>
          </a:p>
          <a:p>
            <a:pPr lvl="1">
              <a:defRPr sz="1300">
                <a:solidFill>
                  <a:srgbClr val="27AE60"/>
                </a:solidFill>
              </a:defRPr>
            </a:pPr>
            <a:r>
              <a:t>✅ Blast radius containment</a:t>
            </a:r>
          </a:p>
          <a:p>
            <a:pPr lvl="1">
              <a:defRPr sz="1300">
                <a:solidFill>
                  <a:srgbClr val="27AE60"/>
                </a:solidFill>
              </a:defRPr>
            </a:pPr>
            <a:r>
              <a:t>✅ Different SLAs/SLOs</a:t>
            </a:r>
          </a:p>
          <a:p>
            <a:pPr lvl="1">
              <a:defRPr sz="1300">
                <a:solidFill>
                  <a:srgbClr val="27AE60"/>
                </a:solidFill>
              </a:defRPr>
            </a:pPr>
            <a:r>
              <a:t>✅ Independent scaling</a:t>
            </a:r>
          </a:p>
          <a:p>
            <a:pPr lvl="1">
              <a:defRPr sz="1300">
                <a:solidFill>
                  <a:srgbClr val="27AE60"/>
                </a:solidFill>
              </a:defRPr>
            </a:pPr>
            <a:r>
              <a:t>✅ Compliance requirements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Decisions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t>Decision 1: Environment Strategy</a:t>
            </a:r>
          </a:p>
          <a:p>
            <a:pPr lvl="1">
              <a:defRPr sz="1200"/>
            </a:pPr>
            <a:r>
              <a:t>☐ Separate non-prod/prod clusters (recommended)</a:t>
            </a:r>
          </a:p>
          <a:p>
            <a:pPr lvl="2">
              <a:defRPr sz="1100" i="1">
                <a:solidFill>
                  <a:srgbClr val="95A5A6"/>
                </a:solidFill>
              </a:defRPr>
            </a:pPr>
            <a:r>
              <a:t>Timeline: Needed before onboarding prod workloads</a:t>
            </a:r>
          </a:p>
          <a:p>
            <a:pPr>
              <a:defRPr sz="1400" b="1">
                <a:solidFill>
                  <a:srgbClr val="E74C3C"/>
                </a:solidFill>
              </a:defRPr>
            </a:pPr>
            <a:r>
              <a:t>Decision 2: Logging Destination</a:t>
            </a:r>
          </a:p>
          <a:p>
            <a:pPr lvl="1">
              <a:defRPr sz="1200"/>
            </a:pPr>
            <a:r>
              <a:t>☐ CloudWatch Logs / OpenSearch / Third-party</a:t>
            </a:r>
          </a:p>
          <a:p>
            <a:pPr lvl="2">
              <a:defRPr sz="1100" i="1">
                <a:solidFill>
                  <a:srgbClr val="95A5A6"/>
                </a:solidFill>
              </a:defRPr>
            </a:pPr>
            <a:r>
              <a:t>Timeline: Critical for troubleshooting</a:t>
            </a:r>
          </a:p>
          <a:p>
            <a:pPr>
              <a:defRPr sz="1400" b="1">
                <a:solidFill>
                  <a:srgbClr val="E74C3C"/>
                </a:solidFill>
              </a:defRPr>
            </a:pPr>
            <a:r>
              <a:t>Decision 3: IAM Permission Expansion</a:t>
            </a:r>
          </a:p>
          <a:p>
            <a:pPr lvl="1">
              <a:defRPr sz="1200"/>
            </a:pPr>
            <a:r>
              <a:t>☐ Approve expanded EKS Management role</a:t>
            </a:r>
          </a:p>
          <a:p>
            <a:pPr lvl="2">
              <a:defRPr sz="1100" i="1">
                <a:solidFill>
                  <a:srgbClr val="95A5A6"/>
                </a:solidFill>
              </a:defRPr>
            </a:pPr>
            <a:r>
              <a:t>Timeline: BLOCKER: Current eks:* too restrictive</a:t>
            </a:r>
          </a:p>
          <a:p>
            <a:pPr>
              <a:defRPr sz="1400" b="1">
                <a:solidFill>
                  <a:srgbClr val="FF9900"/>
                </a:solidFill>
              </a:defRPr>
            </a:pPr>
            <a:r>
              <a:t>Decision 4: Network Isolation</a:t>
            </a:r>
          </a:p>
          <a:p>
            <a:pPr lvl="1">
              <a:defRPr sz="1200"/>
            </a:pPr>
            <a:r>
              <a:t>☐ Implement NetworkPolicies now or defer</a:t>
            </a:r>
          </a:p>
          <a:p>
            <a:pPr lvl="2">
              <a:defRPr sz="1100" i="1">
                <a:solidFill>
                  <a:srgbClr val="95A5A6"/>
                </a:solidFill>
              </a:defRPr>
            </a:pPr>
            <a:r>
              <a:t>Timeline: Before sensitive workloads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3498DB"/>
                </a:solidFill>
              </a:defRPr>
            </a:pPr>
            <a:r>
              <a:t>Immediate (This Sprint)</a:t>
            </a:r>
          </a:p>
          <a:p>
            <a:pPr lvl="1">
              <a:defRPr sz="1300">
                <a:solidFill>
                  <a:srgbClr val="27AE60"/>
                </a:solidFill>
              </a:defRPr>
            </a:pPr>
            <a:r>
              <a:t>✅ Document architecture (done)</a:t>
            </a:r>
          </a:p>
          <a:p>
            <a:pPr lvl="1">
              <a:defRPr sz="1300"/>
            </a:pPr>
            <a:r>
              <a:t>Expand EKS Management IAM permissions</a:t>
            </a:r>
          </a:p>
          <a:p>
            <a:pPr lvl="1">
              <a:defRPr sz="1300"/>
            </a:pPr>
            <a:r>
              <a:t>Test Secrets Manager CSI driver</a:t>
            </a:r>
          </a:p>
          <a:p>
            <a:pPr lvl="1">
              <a:defRPr sz="1300"/>
            </a:pPr>
            <a:r>
              <a:t>Set up CloudWatch Container Insights</a:t>
            </a:r>
          </a:p>
          <a:p>
            <a:pPr>
              <a:defRPr sz="1600" b="1">
                <a:solidFill>
                  <a:srgbClr val="3498DB"/>
                </a:solidFill>
              </a:defRPr>
            </a:pPr>
            <a:r>
              <a:t>Next Sprint</a:t>
            </a:r>
          </a:p>
          <a:p>
            <a:pPr lvl="1">
              <a:defRPr sz="1300"/>
            </a:pPr>
            <a:r>
              <a:t>Deploy FluentBit for logging</a:t>
            </a:r>
          </a:p>
          <a:p>
            <a:pPr lvl="1">
              <a:defRPr sz="1300"/>
            </a:pPr>
            <a:r>
              <a:t>Create non-prod cluster</a:t>
            </a:r>
          </a:p>
          <a:p>
            <a:pPr lvl="1">
              <a:defRPr sz="1300"/>
            </a:pPr>
            <a:r>
              <a:t>Implement ResourceQuotas</a:t>
            </a:r>
          </a:p>
          <a:p>
            <a:pPr lvl="1">
              <a:defRPr sz="1300"/>
            </a:pPr>
            <a:r>
              <a:t>Add Prometheus/Grafana</a:t>
            </a:r>
          </a:p>
          <a:p>
            <a:pPr>
              <a:defRPr sz="1600" b="1">
                <a:solidFill>
                  <a:srgbClr val="3498DB"/>
                </a:solidFill>
              </a:defRPr>
            </a:pPr>
            <a:r>
              <a:t>Within 2 Months</a:t>
            </a:r>
          </a:p>
          <a:p>
            <a:pPr lvl="1">
              <a:defRPr sz="1300"/>
            </a:pPr>
            <a:r>
              <a:t>NetworkPolicies implementation</a:t>
            </a:r>
          </a:p>
          <a:p>
            <a:pPr lvl="1">
              <a:defRPr sz="1300"/>
            </a:pPr>
            <a:r>
              <a:t>CI/CD pipeline integration</a:t>
            </a:r>
          </a:p>
          <a:p>
            <a:pPr lvl="1">
              <a:defRPr sz="1300"/>
            </a:pPr>
            <a:r>
              <a:t>Onboard first production tenant</a:t>
            </a:r>
          </a:p>
          <a:p>
            <a:pPr lvl="1">
              <a:defRPr sz="1300"/>
            </a:pPr>
            <a:r>
              <a:t>Disaster recovery testing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232F3E"/>
                </a:solidFill>
              </a:defRPr>
            </a:pPr>
            <a:r>
              <a:t>Technical Metrics</a:t>
            </a:r>
          </a:p>
          <a:p>
            <a:pPr lvl="1">
              <a:defRPr sz="1300"/>
            </a:pPr>
            <a:r>
              <a:t>Cluster uptime: 99.9% target</a:t>
            </a:r>
          </a:p>
          <a:p>
            <a:pPr lvl="1">
              <a:defRPr sz="1300"/>
            </a:pPr>
            <a:r>
              <a:t>Pod startup time: &lt;30 seconds</a:t>
            </a:r>
          </a:p>
          <a:p>
            <a:pPr lvl="1">
              <a:defRPr sz="1300"/>
            </a:pPr>
            <a:r>
              <a:t>PVC provisioning: &lt;2 minutes</a:t>
            </a:r>
          </a:p>
          <a:p>
            <a:pPr lvl="1">
              <a:defRPr sz="1300"/>
            </a:pPr>
            <a:r>
              <a:t>Zero cross-tenant security incidents</a:t>
            </a:r>
          </a:p>
          <a:p>
            <a:pPr>
              <a:defRPr sz="1600" b="1">
                <a:solidFill>
                  <a:srgbClr val="232F3E"/>
                </a:solidFill>
              </a:defRPr>
            </a:pPr>
            <a:r>
              <a:t>Business Metrics</a:t>
            </a:r>
          </a:p>
          <a:p>
            <a:pPr lvl="1">
              <a:defRPr sz="1300"/>
            </a:pPr>
            <a:r>
              <a:t>Cost per tenant: $200-270/month</a:t>
            </a:r>
          </a:p>
          <a:p>
            <a:pPr lvl="1">
              <a:defRPr sz="1300"/>
            </a:pPr>
            <a:r>
              <a:t>Time to onboard tenant: &lt;1 day</a:t>
            </a:r>
          </a:p>
          <a:p>
            <a:pPr lvl="1">
              <a:defRPr sz="1300"/>
            </a:pPr>
            <a:r>
              <a:t>Developer satisfaction score</a:t>
            </a:r>
          </a:p>
          <a:p>
            <a:pPr lvl="1">
              <a:defRPr sz="1300"/>
            </a:pPr>
            <a:r>
              <a:t>Reduction in infrastructure tickets</a:t>
            </a:r>
          </a:p>
          <a:p>
            <a:pPr>
              <a:defRPr sz="1600" b="1">
                <a:solidFill>
                  <a:srgbClr val="232F3E"/>
                </a:solidFill>
              </a:defRPr>
            </a:pPr>
            <a:r>
              <a:t>Operational Metrics</a:t>
            </a:r>
          </a:p>
          <a:p>
            <a:pPr lvl="1">
              <a:defRPr sz="1300"/>
            </a:pPr>
            <a:r>
              <a:t>Mean time to recovery (MTTR)</a:t>
            </a:r>
          </a:p>
          <a:p>
            <a:pPr lvl="1">
              <a:defRPr sz="1300"/>
            </a:pPr>
            <a:r>
              <a:t>Incident count per month</a:t>
            </a:r>
          </a:p>
          <a:p>
            <a:pPr lvl="1">
              <a:defRPr sz="1300"/>
            </a:pPr>
            <a:r>
              <a:t>Automated vs manual operations ratio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 b="1">
                <a:latin typeface="Courier New"/>
              </a:defRPr>
            </a:pPr>
            <a:r>
              <a:t>Risk                        Impact    Mitigation</a:t>
            </a:r>
          </a:p>
          <a:p>
            <a:pPr lvl="1">
              <a:defRPr sz="1100">
                <a:solidFill>
                  <a:srgbClr val="FF9900"/>
                </a:solidFill>
                <a:latin typeface="Courier New"/>
              </a:defRPr>
            </a:pPr>
            <a:r>
              <a:t>Single cluster outage        High     Multi-AZ + DR cluster plan</a:t>
            </a:r>
          </a:p>
          <a:p>
            <a:pPr lvl="1">
              <a:defRPr sz="1100">
                <a:solidFill>
                  <a:srgbClr val="E74C3C"/>
                </a:solidFill>
                <a:latin typeface="Courier New"/>
              </a:defRPr>
            </a:pPr>
            <a:r>
              <a:t>Tenant escapes namespace     Critical Security audits + NetworkPolicies</a:t>
            </a:r>
          </a:p>
          <a:p>
            <a:pPr lvl="1">
              <a:defRPr sz="1100">
                <a:latin typeface="Courier New"/>
              </a:defRPr>
            </a:pPr>
            <a:r>
              <a:t>EBS volume failure           Medium   Backup strategy + replicas</a:t>
            </a:r>
          </a:p>
          <a:p>
            <a:pPr lvl="1">
              <a:defRPr sz="1100">
                <a:latin typeface="Courier New"/>
              </a:defRPr>
            </a:pPr>
            <a:r>
              <a:t>IAM permission gaps          Medium   Expand EKS Management role</a:t>
            </a:r>
          </a:p>
          <a:p>
            <a:pPr lvl="1">
              <a:defRPr sz="1100">
                <a:latin typeface="Courier New"/>
              </a:defRPr>
            </a:pPr>
            <a:r>
              <a:t>Cost overruns                Medium   ResourceQuotas + monitoring</a:t>
            </a:r>
          </a:p>
          <a:p>
            <a:pPr lvl="1">
              <a:defRPr sz="1100">
                <a:solidFill>
                  <a:srgbClr val="FF9900"/>
                </a:solidFill>
                <a:latin typeface="Courier New"/>
              </a:defRPr>
            </a:pPr>
            <a:r>
              <a:t>Lack of observability        High     FluentBit + CloudWatch (priority)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32F3E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5A5A6"/>
                </a:solidFill>
              </a:defRPr>
            </a:pPr>
            <a:r>
              <a:t>Open Questions:</a:t>
            </a:r>
          </a:p>
          <a:p>
            <a:pPr algn="ctr">
              <a:defRPr sz="1600">
                <a:solidFill>
                  <a:srgbClr val="95A5A6"/>
                </a:solidFill>
              </a:defRPr>
            </a:pPr>
            <a:r>
              <a:t>• Preferred logging solution?</a:t>
            </a:r>
          </a:p>
          <a:p>
            <a:pPr algn="ctr">
              <a:defRPr sz="1600">
                <a:solidFill>
                  <a:srgbClr val="95A5A6"/>
                </a:solidFill>
              </a:defRPr>
            </a:pPr>
            <a:r>
              <a:t>• Timeline for prod workload onboarding?</a:t>
            </a:r>
          </a:p>
          <a:p>
            <a:pPr algn="ctr">
              <a:defRPr sz="1600">
                <a:solidFill>
                  <a:srgbClr val="95A5A6"/>
                </a:solidFill>
              </a:defRPr>
            </a:pPr>
            <a:r>
              <a:t>• Budget for observability tools?</a:t>
            </a:r>
          </a:p>
          <a:p>
            <a:pPr algn="ctr">
              <a:defRPr sz="1600">
                <a:solidFill>
                  <a:srgbClr val="95A5A6"/>
                </a:solidFill>
              </a:defRPr>
            </a:pPr>
          </a:p>
          <a:p>
            <a:pPr algn="ctr">
              <a:defRPr sz="1600">
                <a:solidFill>
                  <a:srgbClr val="95A5A6"/>
                </a:solidFill>
              </a:defRPr>
            </a:pPr>
            <a:r>
              <a:t>Demo Ready:</a:t>
            </a:r>
          </a:p>
          <a:p>
            <a:pPr algn="ctr">
              <a:defRPr sz="1600">
                <a:solidFill>
                  <a:srgbClr val="95A5A6"/>
                </a:solidFill>
              </a:defRPr>
            </a:pPr>
            <a:r>
              <a:t>• Live cluster walkthrough</a:t>
            </a:r>
          </a:p>
          <a:p>
            <a:pPr algn="ctr">
              <a:defRPr sz="1600">
                <a:solidFill>
                  <a:srgbClr val="95A5A6"/>
                </a:solidFill>
              </a:defRPr>
            </a:pPr>
            <a:r>
              <a:t>• Persistence demonstration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BACKUP: Cost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Current Monthly Cost Estimate (Single Tenant):</a:t>
            </a:r>
          </a:p>
          <a:p>
            <a:pPr lvl="1">
              <a:defRPr sz="1400">
                <a:latin typeface="Courier New"/>
              </a:defRPr>
            </a:pPr>
            <a:r>
              <a:t>EKS Control Plane                   $73</a:t>
            </a:r>
          </a:p>
          <a:p>
            <a:pPr lvl="1">
              <a:defRPr sz="1400">
                <a:latin typeface="Courier New"/>
              </a:defRPr>
            </a:pPr>
            <a:r>
              <a:t>System nodes (2x m5.large)          ~$140</a:t>
            </a:r>
          </a:p>
          <a:p>
            <a:pPr lvl="1">
              <a:defRPr sz="1400">
                <a:latin typeface="Courier New"/>
              </a:defRPr>
            </a:pPr>
            <a:r>
              <a:t>Customer nodes (1x m5.xlarge)       ~$140</a:t>
            </a:r>
          </a:p>
          <a:p>
            <a:pPr lvl="1">
              <a:defRPr sz="1400">
                <a:latin typeface="Courier New"/>
              </a:defRPr>
            </a:pPr>
            <a:r>
              <a:t>EBS volumes (10GB)                  ~$1</a:t>
            </a:r>
          </a:p>
          <a:p>
            <a:pPr lvl="1">
              <a:defRPr sz="1400">
                <a:latin typeface="Courier New"/>
              </a:defRPr>
            </a:pPr>
            <a:r>
              <a:t>Data transfer                       ~$50</a:t>
            </a:r>
          </a:p>
          <a:p>
            <a:pPr lvl="1">
              <a:defRPr sz="1400"/>
            </a:pPr>
            <a:r>
              <a:t>──────────────────────────────────────────────────</a:t>
            </a:r>
          </a:p>
          <a:p>
            <a:br/>
            <a:pPr lvl="1">
              <a:defRPr b="1" sz="1600">
                <a:solidFill>
                  <a:srgbClr val="27AE60"/>
                </a:solidFill>
              </a:defRPr>
            </a:pPr>
            <a:r>
              <a:t>Total                               ~$404/month</a:t>
            </a:r>
          </a:p>
          <a:p>
            <a:br/>
            <a:pPr>
              <a:defRPr sz="1600" b="1"/>
            </a:pPr>
            <a:r>
              <a:t>With 3 tenants: ~$600-800/month</a:t>
            </a:r>
          </a:p>
          <a:p>
            <a:pPr>
              <a:defRPr sz="1600" b="1">
                <a:solidFill>
                  <a:srgbClr val="27AE60"/>
                </a:solidFill>
              </a:defRPr>
            </a:pPr>
            <a:r>
              <a:t>Cost per tenant: $200-270/month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