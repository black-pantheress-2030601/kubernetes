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232F3E"/>
                </a:solidFill>
              </a:defRPr>
            </a:pPr>
            <a:r>
              <a:t>Hub-and-Spoke EKS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5A5A6"/>
                </a:solidFill>
              </a:defRPr>
            </a:pPr>
            <a:r>
              <a:t>Multi-Customer Kubernetes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5A5A6"/>
                </a:solidFill>
              </a:defRPr>
            </a:pPr>
            <a:r>
              <a:t>June 2026 • AWS Access Account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Hub-and-Spoke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232F3E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┌──────────────────────────────────────┐</a:t>
            </a:r>
            <a:br/>
            <a:r>
              <a:t>│   Hub Account (Shared Services)     │</a:t>
            </a:r>
            <a:br/>
            <a:r>
              <a:t>│                                      │</a:t>
            </a:r>
            <a:br/>
            <a:r>
              <a:t>│  • ECR Container Registry           │</a:t>
            </a:r>
            <a:br/>
            <a:r>
              <a:t>│  • CloudWatch Logs (centralized)    │</a:t>
            </a:r>
            <a:br/>
            <a:r>
              <a:t>│  • Amazon Managed Prometheus        │</a:t>
            </a:r>
            <a:br/>
            <a:r>
              <a:t>│  • Optional: Shared tools cluster   │</a:t>
            </a:r>
            <a:br/>
            <a:r>
              <a:t>└──────────┬───────────┬───────────────┘</a:t>
            </a:r>
            <a:br/>
            <a:r>
              <a:t>           │           │</a:t>
            </a:r>
            <a:br/>
            <a:r>
              <a:t>     ┌─────┴───┐   ┌───┴──────┐</a:t>
            </a:r>
            <a:br/>
            <a:r>
              <a:t>     │         │   │          │</a:t>
            </a:r>
            <a:br/>
            <a:r>
              <a:t> ┌───▼────┐ ┌─▼──────┐ ┌─────▼──┐</a:t>
            </a:r>
            <a:br/>
            <a:r>
              <a:t> │Customer│ │Customer│ │Customer│</a:t>
            </a:r>
            <a:br/>
            <a:r>
              <a:t> │   1    │ │   2    │ │   3    │</a:t>
            </a:r>
            <a:br/>
            <a:r>
              <a:t> │  EKS   │ │  EKS   │ │  EKS   │</a:t>
            </a:r>
            <a:br/>
            <a:r>
              <a:t> │Cluster │ │Cluster │ │Cluster │</a:t>
            </a:r>
            <a:br/>
            <a:r>
              <a:t> └────────┘ └────────┘ └────────┘</a:t>
            </a:r>
          </a:p>
          <a:p>
            <a:br/>
            <a:pPr>
              <a:defRPr sz="1800" b="1"/>
            </a:pPr>
            <a:r>
              <a:t>Key Principle:</a:t>
            </a:r>
          </a:p>
          <a:p>
            <a:pPr lvl="1">
              <a:defRPr sz="1400"/>
            </a:pPr>
            <a:r>
              <a:t>Customers bring their OWN EKS clusters in their OWN AWS accounts</a:t>
            </a:r>
          </a:p>
          <a:p>
            <a:pPr lvl="1">
              <a:defRPr sz="1400"/>
            </a:pPr>
            <a:r>
              <a:t>Hub provides shared services: ECR, logging,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Progress - What's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Infrastructure (Spoke Cluster):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EKS Cluster deployed with CloudFormation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Bottlerocket OS on nodes (immutable, minimal)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BRUPOP (Bottlerocket Update Operator) - auto-updates nodes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Node groups with taints for workload isolation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EBS CSI Driver with IAM permissions (fixed)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Pod Identity for secure AWS service access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RBAC with least-privilege roles</a:t>
            </a:r>
          </a:p>
          <a:p>
            <a:br/>
            <a:pPr>
              <a:defRPr sz="2000" b="1">
                <a:solidFill>
                  <a:srgbClr val="27AE60"/>
                </a:solidFill>
              </a:defRPr>
            </a:pPr>
            <a:r>
              <a:t>Application Layer: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StatefulSets with EBS persistent volumes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Flask demo app with persistence tested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Data survives pod deletion (verified)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✅ Encrypted GP3 volumes provisioning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Bottlerocket OS + BRUPOP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Why Bottlerocket?</a:t>
            </a:r>
          </a:p>
          <a:p>
            <a:pPr lvl="1">
              <a:defRPr sz="1500" b="1"/>
            </a:pPr>
            <a:r>
              <a:t>✅ Immutable OS</a:t>
            </a:r>
          </a:p>
          <a:p>
            <a:pPr lvl="2">
              <a:defRPr sz="1300" i="1">
                <a:solidFill>
                  <a:srgbClr val="95A5A6"/>
                </a:solidFill>
              </a:defRPr>
            </a:pPr>
            <a:r>
              <a:t>Can't SSH in and make changes → no drift</a:t>
            </a:r>
          </a:p>
          <a:p>
            <a:pPr lvl="1">
              <a:defRPr sz="1500" b="1"/>
            </a:pPr>
            <a:r>
              <a:t>✅ Minimal Attack Surface</a:t>
            </a:r>
          </a:p>
          <a:p>
            <a:pPr lvl="2">
              <a:defRPr sz="1300" i="1">
                <a:solidFill>
                  <a:srgbClr val="95A5A6"/>
                </a:solidFill>
              </a:defRPr>
            </a:pPr>
            <a:r>
              <a:t>Only what Kubernetes needs → more secure</a:t>
            </a:r>
          </a:p>
          <a:p>
            <a:pPr lvl="1">
              <a:defRPr sz="1500" b="1"/>
            </a:pPr>
            <a:r>
              <a:t>✅ Purpose-Built</a:t>
            </a:r>
          </a:p>
          <a:p>
            <a:pPr lvl="2">
              <a:defRPr sz="1300" i="1">
                <a:solidFill>
                  <a:srgbClr val="95A5A6"/>
                </a:solidFill>
              </a:defRPr>
            </a:pPr>
            <a:r>
              <a:t>Designed specifically for containers</a:t>
            </a:r>
          </a:p>
          <a:p>
            <a:pPr lvl="1">
              <a:defRPr sz="1500" b="1"/>
            </a:pPr>
            <a:r>
              <a:t>✅ Auto-Updates</a:t>
            </a:r>
          </a:p>
          <a:p>
            <a:pPr lvl="2">
              <a:defRPr sz="1300" i="1">
                <a:solidFill>
                  <a:srgbClr val="95A5A6"/>
                </a:solidFill>
              </a:defRPr>
            </a:pPr>
            <a:r>
              <a:t>BRUPOP handles rolling updates automatically</a:t>
            </a:r>
          </a:p>
          <a:p>
            <a:br/>
            <a:pPr>
              <a:defRPr sz="1800" b="1">
                <a:solidFill>
                  <a:srgbClr val="27AE60"/>
                </a:solidFill>
              </a:defRPr>
            </a:pPr>
            <a:r>
              <a:t>BRUPOP Status: ✅ Deployed and Running</a:t>
            </a:r>
          </a:p>
          <a:p>
            <a:pPr lvl="1">
              <a:defRPr sz="1400"/>
            </a:pPr>
            <a:r>
              <a:t>Automatically updates Bottlerocket nodes with zero-touch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- EBS Persistent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What I'll Demonstrate:</a:t>
            </a:r>
          </a:p>
          <a:p>
            <a:pPr lvl="1">
              <a:defRPr sz="1600"/>
            </a:pPr>
            <a:r>
              <a:t>1. Show running StatefulSet with 2 replicas</a:t>
            </a:r>
          </a:p>
          <a:p>
            <a:pPr lvl="1">
              <a:defRPr sz="1600"/>
            </a:pPr>
            <a:r>
              <a:t>2. Each pod has dedicated 5GB EBS volume</a:t>
            </a:r>
          </a:p>
          <a:p>
            <a:pPr lvl="1">
              <a:defRPr sz="1600"/>
            </a:pPr>
            <a:r>
              <a:t>3. Add data via REST API</a:t>
            </a:r>
          </a:p>
          <a:p>
            <a:pPr lvl="1">
              <a:defRPr sz="1600"/>
            </a:pPr>
            <a:r>
              <a:t>4. Delete a pod (simulate failure)</a:t>
            </a:r>
          </a:p>
          <a:p>
            <a:pPr lvl="1">
              <a:defRPr sz="1600"/>
            </a:pPr>
            <a:r>
              <a:t>5. Pod recreates automatically</a:t>
            </a:r>
          </a:p>
          <a:p>
            <a:pPr lvl="1">
              <a:defRPr sz="1600" b="1">
                <a:solidFill>
                  <a:srgbClr val="27AE60"/>
                </a:solidFill>
              </a:defRPr>
            </a:pPr>
            <a:r>
              <a:t>6. Data still intact - persistence works! ✅</a:t>
            </a:r>
          </a:p>
          <a:p>
            <a:br/>
            <a:pPr>
              <a:defRPr sz="1800" b="1"/>
            </a:pPr>
            <a:r>
              <a:t>Proves: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✓ Stateful workloads work (databases, etc.)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✓ Data survives pod restarts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✓ EBS CSI driver functioning correctly</a:t>
            </a:r>
          </a:p>
          <a:p>
            <a:pPr lvl="1">
              <a:defRPr sz="1400">
                <a:solidFill>
                  <a:srgbClr val="27AE60"/>
                </a:solidFill>
              </a:defRPr>
            </a:pPr>
            <a:r>
              <a:t>✓ Ready for production workloads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Customers Connect to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1. Container Images (ECR)</a:t>
            </a:r>
          </a:p>
          <a:p>
            <a:pPr lvl="1">
              <a:defRPr sz="1300"/>
            </a:pPr>
            <a:r>
              <a:t>Hub: Builds and pushes images to ECR</a:t>
            </a:r>
          </a:p>
          <a:p>
            <a:pPr lvl="1">
              <a:defRPr sz="1300"/>
            </a:pPr>
            <a:r>
              <a:t>Spoke: Pulls images from hub ECR</a:t>
            </a:r>
          </a:p>
          <a:p>
            <a:pPr lvl="1">
              <a:defRPr sz="1300"/>
            </a:pPr>
            <a:r>
              <a:t>No imagePullSecrets needed - IAM handles it</a:t>
            </a:r>
          </a:p>
          <a:p>
            <a:pPr lvl="1">
              <a:defRPr sz="1300" b="1">
                <a:solidFill>
                  <a:srgbClr val="F1C40F"/>
                </a:solidFill>
              </a:defRPr>
            </a:pPr>
            <a:r>
              <a:t>Status: 🟡 Ready to implement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2. Centralized Logging</a:t>
            </a:r>
          </a:p>
          <a:p>
            <a:pPr lvl="1">
              <a:defRPr sz="1300"/>
            </a:pPr>
            <a:r>
              <a:t>Spoke: FluentBit sends logs to hub CloudWatch</a:t>
            </a:r>
          </a:p>
          <a:p>
            <a:pPr lvl="1">
              <a:defRPr sz="1300"/>
            </a:pPr>
            <a:r>
              <a:t>Hub: All logs in one place for troubleshooting</a:t>
            </a:r>
          </a:p>
          <a:p>
            <a:pPr lvl="1">
              <a:defRPr sz="1300" b="1">
                <a:solidFill>
                  <a:srgbClr val="F1C40F"/>
                </a:solidFill>
              </a:defRPr>
            </a:pPr>
            <a:r>
              <a:t>Status: 🟡 Ready to implement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3. Centralized Monitoring</a:t>
            </a:r>
          </a:p>
          <a:p>
            <a:pPr lvl="1">
              <a:defRPr sz="1300"/>
            </a:pPr>
            <a:r>
              <a:t>Spoke: Prometheus sends metrics to hub AMP</a:t>
            </a:r>
          </a:p>
          <a:p>
            <a:pPr lvl="1">
              <a:defRPr sz="1300"/>
            </a:pPr>
            <a:r>
              <a:t>Hub: One Grafana dashboard for all customers</a:t>
            </a:r>
          </a:p>
          <a:p>
            <a:pPr lvl="1">
              <a:defRPr sz="1300" b="1">
                <a:solidFill>
                  <a:srgbClr val="F1C40F"/>
                </a:solidFill>
              </a:defRPr>
            </a:pPr>
            <a:r>
              <a:t>Status: 🟡 Ready to implement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✅ COMPLETE - Spoke Cluster Foundation</a:t>
            </a:r>
          </a:p>
          <a:p>
            <a:pPr lvl="1">
              <a:defRPr sz="1300"/>
            </a:pPr>
            <a:r>
              <a:t>✓ EKS cluster infrastructure (CloudFormation)</a:t>
            </a:r>
          </a:p>
          <a:p>
            <a:pPr lvl="1">
              <a:defRPr sz="1300"/>
            </a:pPr>
            <a:r>
              <a:t>✓ Bottlerocket nodes with BRUPOP</a:t>
            </a:r>
          </a:p>
          <a:p>
            <a:pPr lvl="1">
              <a:defRPr sz="1300"/>
            </a:pPr>
            <a:r>
              <a:t>✓ EBS CSI driver + persistent volumes</a:t>
            </a:r>
          </a:p>
          <a:p>
            <a:pPr lvl="1">
              <a:defRPr sz="1300"/>
            </a:pPr>
            <a:r>
              <a:t>✓ Pod Identity for AWS service access</a:t>
            </a:r>
          </a:p>
          <a:p>
            <a:pPr lvl="1">
              <a:defRPr sz="1300"/>
            </a:pPr>
            <a:r>
              <a:t>✓ RBAC security model</a:t>
            </a:r>
          </a:p>
          <a:p>
            <a:pPr lvl="1">
              <a:defRPr sz="1300"/>
            </a:pPr>
            <a:r>
              <a:t>✓ StatefulSet demo working</a:t>
            </a:r>
          </a:p>
          <a:p>
            <a:br/>
            <a:pPr>
              <a:defRPr sz="1800" b="1">
                <a:solidFill>
                  <a:srgbClr val="F1C40F"/>
                </a:solidFill>
              </a:defRPr>
            </a:pPr>
            <a:r>
              <a:t>🟡 IN PROGRESS - Hub Infrastructure</a:t>
            </a:r>
          </a:p>
          <a:p>
            <a:pPr lvl="1">
              <a:defRPr sz="1300"/>
            </a:pPr>
            <a:r>
              <a:t>→ Deploy hub account (ECR, CloudWatch, AMP)</a:t>
            </a:r>
          </a:p>
          <a:p>
            <a:pPr lvl="1">
              <a:defRPr sz="1300"/>
            </a:pPr>
            <a:r>
              <a:t>→ Configure ECR cross-account access</a:t>
            </a:r>
          </a:p>
          <a:p>
            <a:pPr lvl="1">
              <a:defRPr sz="1300"/>
            </a:pPr>
            <a:r>
              <a:t>→ Set up centralized logging pipeline</a:t>
            </a:r>
          </a:p>
          <a:p>
            <a:pPr lvl="1">
              <a:defRPr sz="1300"/>
            </a:pPr>
            <a:r>
              <a:t>→ Set up centralized monitoring pipeline</a:t>
            </a:r>
          </a:p>
          <a:p>
            <a:br/>
            <a:pPr>
              <a:defRPr sz="1800" b="1">
                <a:solidFill>
                  <a:srgbClr val="95A5A6"/>
                </a:solidFill>
              </a:defRPr>
            </a:pPr>
            <a:r>
              <a:t>⏳ NOT STARTED</a:t>
            </a:r>
          </a:p>
          <a:p>
            <a:pPr lvl="1">
              <a:defRPr sz="1300">
                <a:solidFill>
                  <a:srgbClr val="95A5A6"/>
                </a:solidFill>
              </a:defRPr>
            </a:pPr>
            <a:r>
              <a:t>  Deploy second customer cluster (proof of multi-customer)</a:t>
            </a:r>
          </a:p>
          <a:p>
            <a:pPr lvl="1">
              <a:defRPr sz="1300">
                <a:solidFill>
                  <a:srgbClr val="95A5A6"/>
                </a:solidFill>
              </a:defRPr>
            </a:pPr>
            <a:r>
              <a:t>  Network connectivity (PrivateLink) - if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>
                <a:solidFill>
                  <a:srgbClr val="27AE60"/>
                </a:solidFill>
              </a:defRPr>
            </a:pPr>
            <a:r>
              <a:t>✅ Bottlerocket + BRUPOP Working</a:t>
            </a:r>
          </a:p>
          <a:p>
            <a:pPr lvl="1">
              <a:defRPr sz="1200"/>
            </a:pPr>
            <a:r>
              <a:t>Automatic OS updates without manual intervention</a:t>
            </a:r>
          </a:p>
          <a:p>
            <a:pPr lvl="1">
              <a:defRPr sz="1200"/>
            </a:pPr>
            <a:r>
              <a:t>Minimal attack surface for security</a:t>
            </a:r>
          </a:p>
          <a:p>
            <a:pPr lvl="1">
              <a:defRPr sz="1200"/>
            </a:pPr>
            <a:r>
              <a:t>Immutable infrastructure - no configuration drift</a:t>
            </a:r>
          </a:p>
          <a:p>
            <a:pPr>
              <a:defRPr sz="1500" b="1">
                <a:solidFill>
                  <a:srgbClr val="27AE60"/>
                </a:solidFill>
              </a:defRPr>
            </a:pPr>
            <a:r>
              <a:t>✅ EBS CSI Driver Fixed</a:t>
            </a:r>
          </a:p>
          <a:p>
            <a:pPr lvl="1">
              <a:defRPr sz="1200"/>
            </a:pPr>
            <a:r>
              <a:t>Required debugging IAM permissions</a:t>
            </a:r>
          </a:p>
          <a:p>
            <a:pPr lvl="1">
              <a:defRPr sz="1200"/>
            </a:pPr>
            <a:r>
              <a:t>Added inline policy to node role</a:t>
            </a:r>
          </a:p>
          <a:p>
            <a:pPr lvl="1">
              <a:defRPr sz="1200"/>
            </a:pPr>
            <a:r>
              <a:t>Now provisions encrypted GP3 volumes automatically</a:t>
            </a:r>
          </a:p>
          <a:p>
            <a:pPr>
              <a:defRPr sz="1500" b="1">
                <a:solidFill>
                  <a:srgbClr val="27AE60"/>
                </a:solidFill>
              </a:defRPr>
            </a:pPr>
            <a:r>
              <a:t>✅ StatefulSets Validated</a:t>
            </a:r>
          </a:p>
          <a:p>
            <a:pPr lvl="1">
              <a:defRPr sz="1200"/>
            </a:pPr>
            <a:r>
              <a:t>Tested pod deletion and recreation</a:t>
            </a:r>
          </a:p>
          <a:p>
            <a:pPr lvl="1">
              <a:defRPr sz="1200"/>
            </a:pPr>
            <a:r>
              <a:t>Data persists across pod lifecycle</a:t>
            </a:r>
          </a:p>
          <a:p>
            <a:pPr lvl="1">
              <a:defRPr sz="1200"/>
            </a:pPr>
            <a:r>
              <a:t>Ready for databases and stateful apps</a:t>
            </a:r>
          </a:p>
          <a:p>
            <a:pPr>
              <a:defRPr sz="1500" b="1">
                <a:solidFill>
                  <a:srgbClr val="27AE60"/>
                </a:solidFill>
              </a:defRPr>
            </a:pPr>
            <a:r>
              <a:t>✅ Infrastructure as Code</a:t>
            </a:r>
          </a:p>
          <a:p>
            <a:pPr lvl="1">
              <a:defRPr sz="1200"/>
            </a:pPr>
            <a:r>
              <a:t>CloudFormation templates for repeatability</a:t>
            </a:r>
          </a:p>
          <a:p>
            <a:pPr lvl="1">
              <a:defRPr sz="1200"/>
            </a:pPr>
            <a:r>
              <a:t>Deployment scripts for automation</a:t>
            </a:r>
          </a:p>
          <a:p>
            <a:pPr lvl="1">
              <a:defRPr sz="1200"/>
            </a:pPr>
            <a:r>
              <a:t>Can recreate entire cluster from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- Phase 1 (Next 2-4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Priority 1: Complete Hub Account</a:t>
            </a:r>
          </a:p>
          <a:p>
            <a:pPr lvl="1">
              <a:defRPr sz="1300"/>
            </a:pPr>
            <a:r>
              <a:t>→ Deploy hub CloudFormation template</a:t>
            </a:r>
          </a:p>
          <a:p>
            <a:pPr lvl="1">
              <a:defRPr sz="1300"/>
            </a:pPr>
            <a:r>
              <a:t>→ Create ECR repositories with cross-account policies</a:t>
            </a:r>
          </a:p>
          <a:p>
            <a:pPr lvl="1">
              <a:defRPr sz="1300"/>
            </a:pPr>
            <a:r>
              <a:t>→ Set up CloudWatch log group for all customers</a:t>
            </a:r>
          </a:p>
          <a:p>
            <a:pPr lvl="1">
              <a:defRPr sz="1300"/>
            </a:pPr>
            <a:r>
              <a:t>→ Deploy Amazon Managed Prometheus workspace</a:t>
            </a:r>
          </a:p>
          <a:p>
            <a:pPr lvl="1">
              <a:defRPr sz="1300"/>
            </a:pPr>
            <a:r>
              <a:t>→ Test ECR pull from spoke cluster</a:t>
            </a:r>
          </a:p>
          <a:p>
            <a:br/>
            <a:pPr>
              <a:defRPr sz="1800" b="1">
                <a:solidFill>
                  <a:srgbClr val="3498DB"/>
                </a:solidFill>
              </a:defRPr>
            </a:pPr>
            <a:r>
              <a:t>Priority 2: Connect Spoke to Hub</a:t>
            </a:r>
          </a:p>
          <a:p>
            <a:pPr lvl="1">
              <a:defRPr sz="1300"/>
            </a:pPr>
            <a:r>
              <a:t>→ Deploy application using hub ECR images</a:t>
            </a:r>
          </a:p>
          <a:p>
            <a:pPr lvl="1">
              <a:defRPr sz="1300"/>
            </a:pPr>
            <a:r>
              <a:t>→ Deploy FluentBit for centralized logging</a:t>
            </a:r>
          </a:p>
          <a:p>
            <a:pPr lvl="1">
              <a:defRPr sz="1300"/>
            </a:pPr>
            <a:r>
              <a:t>→ Deploy Prometheus for centralized monitoring</a:t>
            </a:r>
          </a:p>
          <a:p>
            <a:pPr lvl="1">
              <a:defRPr sz="1300"/>
            </a:pPr>
            <a:r>
              <a:t>→ Verify all connections working</a:t>
            </a:r>
          </a:p>
          <a:p>
            <a:br/>
            <a:pPr>
              <a:defRPr sz="1800" b="1">
                <a:solidFill>
                  <a:srgbClr val="3498DB"/>
                </a:solidFill>
              </a:defRPr>
            </a:pPr>
            <a:r>
              <a:t>Priority 3: Second Customer</a:t>
            </a:r>
          </a:p>
          <a:p>
            <a:pPr lvl="1">
              <a:defRPr sz="1300"/>
            </a:pPr>
            <a:r>
              <a:t>Deploy second spoke cluster to prove multi-customer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- Phase 2 (1-3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 b="1">
                <a:solidFill>
                  <a:srgbClr val="3498DB"/>
                </a:solidFill>
              </a:defRPr>
            </a:pPr>
            <a:r>
              <a:t>Observability Enhancements</a:t>
            </a:r>
          </a:p>
          <a:p>
            <a:pPr lvl="1">
              <a:defRPr sz="1200"/>
            </a:pPr>
            <a:r>
              <a:t>Deploy Grafana in hub for visualizations</a:t>
            </a:r>
          </a:p>
          <a:p>
            <a:pPr lvl="1">
              <a:defRPr sz="1200"/>
            </a:pPr>
            <a:r>
              <a:t>Set up alerting (CloudWatch Alarms)</a:t>
            </a:r>
          </a:p>
          <a:p>
            <a:pPr lvl="1">
              <a:defRPr sz="1200"/>
            </a:pPr>
            <a:r>
              <a:t>Configure dashboards for all customers</a:t>
            </a:r>
          </a:p>
          <a:p>
            <a:pPr>
              <a:defRPr sz="1500" b="1">
                <a:solidFill>
                  <a:srgbClr val="3498DB"/>
                </a:solidFill>
              </a:defRPr>
            </a:pPr>
            <a:r>
              <a:t>Secrets Management</a:t>
            </a:r>
          </a:p>
          <a:p>
            <a:pPr lvl="1">
              <a:defRPr sz="1200"/>
            </a:pPr>
            <a:r>
              <a:t>AWS Secrets Manager CSI Driver</a:t>
            </a:r>
          </a:p>
          <a:p>
            <a:pPr lvl="1">
              <a:defRPr sz="1200"/>
            </a:pPr>
            <a:r>
              <a:t>Test secret mounting and rotation</a:t>
            </a:r>
          </a:p>
          <a:p>
            <a:pPr lvl="1">
              <a:defRPr sz="1200"/>
            </a:pPr>
            <a:r>
              <a:t>Document pattern for customers</a:t>
            </a:r>
          </a:p>
          <a:p>
            <a:pPr>
              <a:defRPr sz="1500" b="1">
                <a:solidFill>
                  <a:srgbClr val="3498DB"/>
                </a:solidFill>
              </a:defRPr>
            </a:pPr>
            <a:r>
              <a:t>Network Connectivity (If Needed)</a:t>
            </a:r>
          </a:p>
          <a:p>
            <a:pPr lvl="1">
              <a:defRPr sz="1200"/>
            </a:pPr>
            <a:r>
              <a:t>PrivateLink for shared services</a:t>
            </a:r>
          </a:p>
          <a:p>
            <a:pPr lvl="1">
              <a:defRPr sz="1200"/>
            </a:pPr>
            <a:r>
              <a:t>Only if customers need network access to hub</a:t>
            </a:r>
          </a:p>
          <a:p>
            <a:pPr lvl="1">
              <a:defRPr sz="1200"/>
            </a:pPr>
            <a:r>
              <a:t>Most workloads won't need this</a:t>
            </a:r>
          </a:p>
          <a:p>
            <a:pPr>
              <a:defRPr sz="1500" b="1">
                <a:solidFill>
                  <a:srgbClr val="3498DB"/>
                </a:solidFill>
              </a:defRPr>
            </a:pPr>
            <a:r>
              <a:t>Automation</a:t>
            </a:r>
          </a:p>
          <a:p>
            <a:pPr lvl="1">
              <a:defRPr sz="1200"/>
            </a:pPr>
            <a:r>
              <a:t>Customer onboarding scripts</a:t>
            </a:r>
          </a:p>
          <a:p>
            <a:pPr lvl="1">
              <a:defRPr sz="1200"/>
            </a:pPr>
            <a:r>
              <a:t>Terraform modules for repeatability</a:t>
            </a:r>
          </a:p>
          <a:p>
            <a:pPr lvl="1">
              <a:defRPr sz="1200"/>
            </a:pPr>
            <a:r>
              <a:t>Self-service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232F3E"/>
                </a:solidFill>
              </a:defRPr>
            </a:pPr>
            <a:r>
              <a:t>Decision 1: Hub Cluster</a:t>
            </a:r>
          </a:p>
          <a:p>
            <a:pPr lvl="1">
              <a:defRPr sz="1200"/>
            </a:pPr>
            <a:r>
              <a:t>Deploy EKS cluster in hub for Grafana/tools? Or run tools elsewhere?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⏰ Timeline: This week</a:t>
            </a:r>
          </a:p>
          <a:p>
            <a:pPr lvl="2">
              <a:defRPr sz="1100">
                <a:solidFill>
                  <a:srgbClr val="27AE60"/>
                </a:solidFill>
              </a:defRPr>
            </a:pPr>
            <a:r>
              <a:t>💡 Recommendation: Start without hub cluster (save $250/month)</a:t>
            </a:r>
          </a:p>
          <a:p>
            <a:pPr>
              <a:defRPr sz="1400" b="1">
                <a:solidFill>
                  <a:srgbClr val="232F3E"/>
                </a:solidFill>
              </a:defRPr>
            </a:pPr>
            <a:r>
              <a:t>Decision 2: Customer Account IDs</a:t>
            </a:r>
          </a:p>
          <a:p>
            <a:pPr lvl="1">
              <a:defRPr sz="1200"/>
            </a:pPr>
            <a:r>
              <a:t>Which AWS account IDs need access to hub ECR?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⏰ Timeline: Before hub deployment</a:t>
            </a:r>
          </a:p>
          <a:p>
            <a:pPr lvl="2">
              <a:defRPr sz="1100">
                <a:solidFill>
                  <a:srgbClr val="27AE60"/>
                </a:solidFill>
              </a:defRPr>
            </a:pPr>
            <a:r>
              <a:t>💡 Required: At least one customer account ID</a:t>
            </a:r>
          </a:p>
          <a:p>
            <a:pPr>
              <a:defRPr sz="1400" b="1">
                <a:solidFill>
                  <a:srgbClr val="232F3E"/>
                </a:solidFill>
              </a:defRPr>
            </a:pPr>
            <a:r>
              <a:t>Decision 3: Non-Prod vs Prod</a:t>
            </a:r>
          </a:p>
          <a:p>
            <a:pPr lvl="1">
              <a:defRPr sz="1200"/>
            </a:pPr>
            <a:r>
              <a:t>Deploy non-prod environment? Or start with prod?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⏰ Timeline: Next sprint</a:t>
            </a:r>
          </a:p>
          <a:p>
            <a:pPr lvl="2">
              <a:defRPr sz="1100">
                <a:solidFill>
                  <a:srgbClr val="27AE60"/>
                </a:solidFill>
              </a:defRPr>
            </a:pPr>
            <a:r>
              <a:t>💡 Recommendation: Start with one cluster, add non-prod later</a:t>
            </a:r>
          </a:p>
          <a:p>
            <a:pPr>
              <a:defRPr sz="1400" b="1">
                <a:solidFill>
                  <a:srgbClr val="E74C3C"/>
                </a:solidFill>
              </a:defRPr>
            </a:pPr>
            <a:r>
              <a:t>Decision 4: IAM Permission Expansion</a:t>
            </a:r>
          </a:p>
          <a:p>
            <a:pPr lvl="1">
              <a:defRPr sz="1200"/>
            </a:pPr>
            <a:r>
              <a:t>Approve expanded EKS Management role permissions?</a:t>
            </a:r>
          </a:p>
          <a:p>
            <a:pPr lvl="2">
              <a:defRPr sz="1100" i="1">
                <a:solidFill>
                  <a:srgbClr val="95A5A6"/>
                </a:solidFill>
              </a:defRPr>
            </a:pPr>
            <a:r>
              <a:t>⏰ Timeline: ASAP - currently blocking operations</a:t>
            </a:r>
          </a:p>
          <a:p>
            <a:pPr lvl="2">
              <a:defRPr sz="1100">
                <a:solidFill>
                  <a:srgbClr val="27AE60"/>
                </a:solidFill>
              </a:defRPr>
            </a:pPr>
            <a:r>
              <a:t>💡 Current: eks:*, Need: ec2:*, iam:*, cloudformation:*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Current Environment (1 Spoke Cluster):</a:t>
            </a:r>
          </a:p>
          <a:p>
            <a:pPr lvl="1">
              <a:defRPr sz="1200">
                <a:latin typeface="Courier New"/>
              </a:defRPr>
            </a:pPr>
            <a:r>
              <a:t>EKS Control Plane              $73/month</a:t>
            </a:r>
          </a:p>
          <a:p>
            <a:pPr lvl="1">
              <a:defRPr sz="1200">
                <a:latin typeface="Courier New"/>
              </a:defRPr>
            </a:pPr>
            <a:r>
              <a:t>EC2 Nodes (3x m5.xlarge)       $350/month</a:t>
            </a:r>
          </a:p>
          <a:p>
            <a:pPr lvl="1">
              <a:defRPr sz="1200">
                <a:latin typeface="Courier New"/>
              </a:defRPr>
            </a:pPr>
            <a:r>
              <a:t>EBS Volumes (2x 5GB GP3)       $1/month</a:t>
            </a:r>
          </a:p>
          <a:p>
            <a:pPr lvl="1">
              <a:defRPr sz="1200">
                <a:latin typeface="Courier New"/>
              </a:defRPr>
            </a:pPr>
            <a:r>
              <a:t>Data Transfer                  $30/month</a:t>
            </a:r>
          </a:p>
          <a:p>
            <a:br/>
            <a:pPr lvl="1">
              <a:defRPr b="1" sz="1400">
                <a:solidFill>
                  <a:srgbClr val="27AE60"/>
                </a:solidFill>
              </a:defRPr>
            </a:pPr>
            <a:r>
              <a:t>Total (current)                $454/month</a:t>
            </a:r>
          </a:p>
          <a:p>
            <a:br/>
            <a:pPr>
              <a:defRPr sz="1800" b="1"/>
            </a:pPr>
            <a:r>
              <a:t>Full Hub-and-Spoke (3 Customers):</a:t>
            </a:r>
          </a:p>
          <a:p>
            <a:pPr lvl="1">
              <a:defRPr sz="1200">
                <a:latin typeface="Courier New"/>
              </a:defRPr>
            </a:pPr>
            <a:r>
              <a:t>Hub (no cluster)                    $50-100/month</a:t>
            </a:r>
          </a:p>
          <a:p>
            <a:pPr lvl="1">
              <a:defRPr sz="1100" i="1">
                <a:solidFill>
                  <a:srgbClr val="95A5A6"/>
                </a:solidFill>
              </a:defRPr>
            </a:pPr>
            <a:r>
              <a:t>   ECR, CloudWatch, AMP only</a:t>
            </a:r>
          </a:p>
          <a:p>
            <a:pPr lvl="1">
              <a:defRPr sz="1200">
                <a:latin typeface="Courier New"/>
              </a:defRPr>
            </a:pPr>
            <a:r>
              <a:t>Customer 1 (current cluster)        $454/month</a:t>
            </a:r>
          </a:p>
          <a:p>
            <a:pPr lvl="1">
              <a:defRPr sz="1200">
                <a:latin typeface="Courier New"/>
              </a:defRPr>
            </a:pPr>
            <a:r>
              <a:t>Customer 2 cluster                  $454/month</a:t>
            </a:r>
          </a:p>
          <a:p>
            <a:pPr lvl="1">
              <a:defRPr sz="1200">
                <a:latin typeface="Courier New"/>
              </a:defRPr>
            </a:pPr>
            <a:r>
              <a:t>Customer 3 cluster                  $454/month</a:t>
            </a:r>
          </a:p>
          <a:p>
            <a:br/>
            <a:pPr lvl="1">
              <a:defRPr b="1" sz="1400">
                <a:solidFill>
                  <a:srgbClr val="27AE60"/>
                </a:solidFill>
              </a:defRPr>
            </a:pPr>
            <a:r>
              <a:t>Total (3 customers)                 $1,500/month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Courier New"/>
              </a:defRPr>
            </a:pPr>
            <a:r>
              <a:t>Risk                          Impact   Mitigation</a:t>
            </a:r>
          </a:p>
          <a:p>
            <a:pPr lvl="1">
              <a:defRPr sz="1100">
                <a:solidFill>
                  <a:srgbClr val="F1C40F"/>
                </a:solidFill>
                <a:latin typeface="Courier New"/>
              </a:defRPr>
            </a:pPr>
            <a:r>
              <a:t>IAM Permission Gaps            Medium   Expand EKS Management role (needed)</a:t>
            </a:r>
          </a:p>
          <a:p>
            <a:pPr lvl="1">
              <a:defRPr sz="1100">
                <a:solidFill>
                  <a:srgbClr val="F1C40F"/>
                </a:solidFill>
                <a:latin typeface="Courier New"/>
              </a:defRPr>
            </a:pPr>
            <a:r>
              <a:t>Hub not deployed yet           Medium   Deploy this week (phase 1 priority)</a:t>
            </a:r>
          </a:p>
          <a:p>
            <a:pPr lvl="1">
              <a:defRPr sz="1100">
                <a:latin typeface="Courier New"/>
              </a:defRPr>
            </a:pPr>
            <a:r>
              <a:t>Single spoke cluster           Low      Proves concept, add more later</a:t>
            </a:r>
          </a:p>
          <a:p>
            <a:pPr lvl="1">
              <a:defRPr sz="1100">
                <a:solidFill>
                  <a:srgbClr val="E74C3C"/>
                </a:solidFill>
                <a:latin typeface="Courier New"/>
              </a:defRPr>
            </a:pPr>
            <a:r>
              <a:t>No centralized logging yet     High     Deploy after hub complete</a:t>
            </a:r>
          </a:p>
          <a:p>
            <a:pPr lvl="1">
              <a:defRPr sz="1100">
                <a:solidFill>
                  <a:srgbClr val="F1C40F"/>
                </a:solidFill>
                <a:latin typeface="Courier New"/>
              </a:defRPr>
            </a:pPr>
            <a:r>
              <a:t>No non-prod environment        Medium   Add after prod validated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Technical Metrics</a:t>
            </a:r>
          </a:p>
          <a:p>
            <a:pPr lvl="1">
              <a:defRPr sz="1300"/>
            </a:pPr>
            <a:r>
              <a:t>Cluster uptime: 99.9% target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Pod startup time: &lt;30 seconds ✅ achieved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PVC provisioning: &lt;2 minutes ✅ achieved</a:t>
            </a:r>
          </a:p>
          <a:p>
            <a:pPr lvl="1">
              <a:defRPr sz="1300">
                <a:solidFill>
                  <a:srgbClr val="27AE60"/>
                </a:solidFill>
              </a:defRPr>
            </a:pPr>
            <a:r>
              <a:t>BRUPOP updates: Zero-touch ✅ working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Phase 1 Goals (2-4 weeks)</a:t>
            </a:r>
          </a:p>
          <a:p>
            <a:pPr lvl="1">
              <a:defRPr sz="1300"/>
            </a:pPr>
            <a:r>
              <a:t>Hub deployed and operational</a:t>
            </a:r>
          </a:p>
          <a:p>
            <a:pPr lvl="1">
              <a:defRPr sz="1300"/>
            </a:pPr>
            <a:r>
              <a:t>1 spoke pulling images from hub ECR</a:t>
            </a:r>
          </a:p>
          <a:p>
            <a:pPr lvl="1">
              <a:defRPr sz="1300"/>
            </a:pPr>
            <a:r>
              <a:t>Centralized logging functional</a:t>
            </a:r>
          </a:p>
          <a:p>
            <a:pPr lvl="1">
              <a:defRPr sz="1300"/>
            </a:pPr>
            <a:r>
              <a:t>Centralized monitoring functional</a:t>
            </a:r>
          </a:p>
          <a:p>
            <a:pPr>
              <a:defRPr sz="1600" b="1">
                <a:solidFill>
                  <a:srgbClr val="3498DB"/>
                </a:solidFill>
              </a:defRPr>
            </a:pPr>
            <a:r>
              <a:t>Phase 2 Goals (1-3 months)</a:t>
            </a:r>
          </a:p>
          <a:p>
            <a:pPr lvl="1">
              <a:defRPr sz="1300"/>
            </a:pPr>
            <a:r>
              <a:t>2+ spoke clusters connected</a:t>
            </a:r>
          </a:p>
          <a:p>
            <a:pPr lvl="1">
              <a:defRPr sz="1300"/>
            </a:pPr>
            <a:r>
              <a:t>Grafana dashboards for all customers</a:t>
            </a:r>
          </a:p>
          <a:p>
            <a:pPr lvl="1">
              <a:defRPr sz="1300"/>
            </a:pPr>
            <a:r>
              <a:t>Automated customer onboarding</a:t>
            </a:r>
          </a:p>
          <a:p>
            <a:pPr lvl="1">
              <a:defRPr sz="1300"/>
            </a:pPr>
            <a:r>
              <a:t>Secrets management validated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32F3E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5A5A6"/>
                </a:solidFill>
              </a:defRPr>
            </a:pPr>
            <a:r>
              <a:t>Open Topics: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Hub deployment timeline?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Customer account IDs for ECR access?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IAM permission approval?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Demo Ready: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StatefulSet with persistent storage</a:t>
            </a:r>
          </a:p>
          <a:p>
            <a:pPr algn="ctr">
              <a:defRPr sz="1600">
                <a:solidFill>
                  <a:srgbClr val="95A5A6"/>
                </a:solidFill>
              </a:defRPr>
            </a:pPr>
            <a:r>
              <a:t>• Bottlerocket + BRUPOP in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